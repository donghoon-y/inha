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21"/>
  </p:notesMasterIdLst>
  <p:sldIdLst>
    <p:sldId id="256" r:id="rId3"/>
    <p:sldId id="257" r:id="rId4"/>
    <p:sldId id="258" r:id="rId5"/>
    <p:sldId id="278" r:id="rId6"/>
    <p:sldId id="279" r:id="rId7"/>
    <p:sldId id="260" r:id="rId8"/>
    <p:sldId id="280" r:id="rId9"/>
    <p:sldId id="263" r:id="rId10"/>
    <p:sldId id="281" r:id="rId11"/>
    <p:sldId id="282" r:id="rId12"/>
    <p:sldId id="283" r:id="rId13"/>
    <p:sldId id="284" r:id="rId14"/>
    <p:sldId id="285" r:id="rId15"/>
    <p:sldId id="276" r:id="rId16"/>
    <p:sldId id="286" r:id="rId17"/>
    <p:sldId id="287" r:id="rId18"/>
    <p:sldId id="288" r:id="rId19"/>
    <p:sldId id="289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8C3E42-3E5C-4F1B-8652-82554BEA93F8}">
  <a:tblStyle styleId="{658C3E42-3E5C-4F1B-8652-82554BEA93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C2CEA3D-DB3E-4EFB-A376-C7360E467C0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82"/>
  </p:normalViewPr>
  <p:slideViewPr>
    <p:cSldViewPr snapToGrid="0">
      <p:cViewPr varScale="1">
        <p:scale>
          <a:sx n="121" d="100"/>
          <a:sy n="121" d="100"/>
        </p:scale>
        <p:origin x="176" y="6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a405f6bca_0_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g35a405f6bc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a405f6bca_0_3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g35a405f6bca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f716acda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9f716acdab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g39f716acdab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C7DCBE2D-9CF0-9020-ABA9-ECD06823B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19BBCD92-F338-70EB-4FC1-1C3CA3F240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3F30CA0F-EBD8-227A-0901-DA8ACE88B0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37196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99D35490-9241-6819-D86D-691C275EF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60068907-6173-8EAE-7362-7588795875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4D628E3C-8E2F-42CA-A61E-E3BA5F7A6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13085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a405f6bca_0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35a405f6bca_0_4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g35a405f6bca_0_4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28503CE1-96AF-2675-2E3B-0D4CF4A9B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DC013054-83D8-D71F-0E4C-959061BB50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EAFBF6C8-ECA9-8E9C-C2D2-E81810FBDA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69342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4EFAFC05-566F-5B73-5079-569A730BD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EED4A01C-35E1-F4E2-F14D-79EF3890BE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FB6274D0-B52A-EB12-46BB-781A3B2B39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88825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A121E0AC-94AE-7190-4D26-AF96E483D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56BF4859-619B-F1DE-FADD-264FFD4ED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271D4AA0-E838-5B8B-84E5-ACD3473567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57400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0D8A8AC4-9ADC-A02A-E2F1-6E9E1E120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4C9D8691-93F1-1D78-C836-8D2573E927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3C660355-3C42-8F50-51BF-9466FFC387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257080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64E5F5E3-6B4F-5B1D-56AB-C28DA56DC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D8AADFCC-230E-3571-F071-FF7E2368A2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58D6318D-9133-02B3-BEDB-34ADACABDE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142363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6E5AE079-236A-115F-DEB0-F49097B90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713ACAB4-44EF-56AC-9E8E-843A5A1808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3D67F6F9-058D-066B-539D-95B1A0A05B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983361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108CA926-7758-8A59-9048-37DEDB6CF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5a405f6bca_0_525:notes">
            <a:extLst>
              <a:ext uri="{FF2B5EF4-FFF2-40B4-BE49-F238E27FC236}">
                <a16:creationId xmlns:a16="http://schemas.microsoft.com/office/drawing/2014/main" id="{FEC48E09-6BD4-D8EA-6956-02BD66A76D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g35a405f6bca_0_525:notes">
            <a:extLst>
              <a:ext uri="{FF2B5EF4-FFF2-40B4-BE49-F238E27FC236}">
                <a16:creationId xmlns:a16="http://schemas.microsoft.com/office/drawing/2014/main" id="{F959C60D-C022-32DD-8113-E6EC139DCB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" name="Google Shape;329;g35a405f6bca_0_525:notes">
            <a:extLst>
              <a:ext uri="{FF2B5EF4-FFF2-40B4-BE49-F238E27FC236}">
                <a16:creationId xmlns:a16="http://schemas.microsoft.com/office/drawing/2014/main" id="{0B5CE156-BB00-45B3-2E80-0545F8AAE8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22934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C87CDC37-13B5-8BC2-8D8B-E54C62A36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65589836-A7C2-C46C-7341-0B457E6089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F6F72527-FC98-8092-C3FB-E45CE85BB7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724842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00B4B239-E018-4BCA-0458-3F287CA1F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2B30CA94-C348-C5DE-D4A2-CFB7094AF9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BB08BF0E-1952-D440-F739-A745EE799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758872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70CF5918-1487-C915-DF70-6067CB1B5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45C0E336-319F-CE9E-78A1-F7F105533A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AD1CB6FA-821C-3501-8E04-CA7856D1C9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096678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84C9279C-5E4B-F46B-0DE3-AA1C55322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5a405f6bca_0_525:notes">
            <a:extLst>
              <a:ext uri="{FF2B5EF4-FFF2-40B4-BE49-F238E27FC236}">
                <a16:creationId xmlns:a16="http://schemas.microsoft.com/office/drawing/2014/main" id="{0162A55E-A8C1-F623-03A6-72A749ADCA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g35a405f6bca_0_525:notes">
            <a:extLst>
              <a:ext uri="{FF2B5EF4-FFF2-40B4-BE49-F238E27FC236}">
                <a16:creationId xmlns:a16="http://schemas.microsoft.com/office/drawing/2014/main" id="{B5E36D94-9DC1-9980-941A-B6D22D71BB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" name="Google Shape;329;g35a405f6bca_0_525:notes">
            <a:extLst>
              <a:ext uri="{FF2B5EF4-FFF2-40B4-BE49-F238E27FC236}">
                <a16:creationId xmlns:a16="http://schemas.microsoft.com/office/drawing/2014/main" id="{290BA2C2-83CA-A016-8344-4191C4A823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5194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/>
          <p:nvPr/>
        </p:nvSpPr>
        <p:spPr>
          <a:xfrm>
            <a:off x="0" y="3629030"/>
            <a:ext cx="6847904" cy="1516262"/>
          </a:xfrm>
          <a:custGeom>
            <a:avLst/>
            <a:gdLst/>
            <a:ahLst/>
            <a:cxnLst/>
            <a:rect l="l" t="t" r="r" b="b"/>
            <a:pathLst>
              <a:path w="7848600" h="2580871" extrusionOk="0">
                <a:moveTo>
                  <a:pt x="0" y="2580871"/>
                </a:moveTo>
                <a:lnTo>
                  <a:pt x="0" y="0"/>
                </a:lnTo>
                <a:cubicBezTo>
                  <a:pt x="1752600" y="580890"/>
                  <a:pt x="3800474" y="1666606"/>
                  <a:pt x="5705474" y="1714096"/>
                </a:cubicBezTo>
                <a:cubicBezTo>
                  <a:pt x="6610349" y="1733146"/>
                  <a:pt x="6867525" y="2399896"/>
                  <a:pt x="7848600" y="2580871"/>
                </a:cubicBezTo>
                <a:lnTo>
                  <a:pt x="0" y="258087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757238" y="1514471"/>
            <a:ext cx="76296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5472113" y="2536790"/>
            <a:ext cx="27933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dt" idx="10"/>
          </p:nvPr>
        </p:nvSpPr>
        <p:spPr>
          <a:xfrm>
            <a:off x="8265319" y="0"/>
            <a:ext cx="878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64" name="Google Shape;64;p14"/>
          <p:cNvCxnSpPr/>
          <p:nvPr/>
        </p:nvCxnSpPr>
        <p:spPr>
          <a:xfrm>
            <a:off x="814388" y="764381"/>
            <a:ext cx="62367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" name="Google Shape;65;p14"/>
          <p:cNvSpPr txBox="1"/>
          <p:nvPr/>
        </p:nvSpPr>
        <p:spPr>
          <a:xfrm>
            <a:off x="757238" y="715563"/>
            <a:ext cx="76296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Arial"/>
              <a:buNone/>
            </a:pPr>
            <a:r>
              <a:rPr lang="ko-KR" altLang="en-US" sz="41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학부연구생</a:t>
            </a:r>
            <a:r>
              <a:rPr lang="ko" sz="41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프로젝트</a:t>
            </a:r>
            <a:endParaRPr sz="4100" b="1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0" y="4636293"/>
            <a:ext cx="9144000" cy="50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3059" y="3893624"/>
            <a:ext cx="1464470" cy="4307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14"/>
          <p:cNvCxnSpPr/>
          <p:nvPr/>
        </p:nvCxnSpPr>
        <p:spPr>
          <a:xfrm>
            <a:off x="5729288" y="2857500"/>
            <a:ext cx="25359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9" name="Google Shape;69;p14"/>
          <p:cNvSpPr txBox="1"/>
          <p:nvPr/>
        </p:nvSpPr>
        <p:spPr>
          <a:xfrm>
            <a:off x="57150" y="4865761"/>
            <a:ext cx="39720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Inha University, </a:t>
            </a:r>
            <a:r>
              <a:rPr lang="en-US" altLang="ko" sz="1000" b="0" i="0" u="none" strike="noStrike" cap="none" dirty="0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Undergraduate Research</a:t>
            </a:r>
            <a:r>
              <a:rPr lang="ko" sz="1000" b="0" i="0" u="none" strike="noStrike" cap="none" dirty="0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 Projects Presentation</a:t>
            </a:r>
            <a:endParaRPr sz="1000" b="0" i="0" u="none" strike="noStrike" cap="none" dirty="0">
              <a:solidFill>
                <a:srgbClr val="BABAB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>
  <p:cSld name="빈 화면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74" name="Google Shape;74;p15"/>
          <p:cNvSpPr>
            <a:spLocks noGrp="1"/>
          </p:cNvSpPr>
          <p:nvPr>
            <p:ph type="dgm" idx="2"/>
          </p:nvPr>
        </p:nvSpPr>
        <p:spPr>
          <a:xfrm>
            <a:off x="1050131" y="707231"/>
            <a:ext cx="2886000" cy="3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0" y="-1"/>
            <a:ext cx="9144000" cy="73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442913" y="102394"/>
            <a:ext cx="60294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442913" y="1012031"/>
            <a:ext cx="8072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82" name="Google Shape;82;p16"/>
          <p:cNvCxnSpPr/>
          <p:nvPr/>
        </p:nvCxnSpPr>
        <p:spPr>
          <a:xfrm>
            <a:off x="-78581" y="733424"/>
            <a:ext cx="93300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442913" y="102394"/>
            <a:ext cx="60294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96" name="Google Shape;96;p18"/>
          <p:cNvCxnSpPr/>
          <p:nvPr/>
        </p:nvCxnSpPr>
        <p:spPr>
          <a:xfrm>
            <a:off x="85725" y="733425"/>
            <a:ext cx="89727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106" name="Google Shape;106;p19"/>
          <p:cNvCxnSpPr/>
          <p:nvPr/>
        </p:nvCxnSpPr>
        <p:spPr>
          <a:xfrm>
            <a:off x="85725" y="733425"/>
            <a:ext cx="89727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442913" y="102394"/>
            <a:ext cx="60294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112" name="Google Shape;112;p20"/>
          <p:cNvCxnSpPr/>
          <p:nvPr/>
        </p:nvCxnSpPr>
        <p:spPr>
          <a:xfrm>
            <a:off x="85725" y="733425"/>
            <a:ext cx="89727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442913" y="102394"/>
            <a:ext cx="60294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 rot="5400000">
            <a:off x="2847450" y="-1392469"/>
            <a:ext cx="3263400" cy="80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133" name="Google Shape;133;p23"/>
          <p:cNvCxnSpPr/>
          <p:nvPr/>
        </p:nvCxnSpPr>
        <p:spPr>
          <a:xfrm>
            <a:off x="85725" y="733425"/>
            <a:ext cx="89727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42913" y="102394"/>
            <a:ext cx="60294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42913" y="1012031"/>
            <a:ext cx="8072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0" y="4767263"/>
            <a:ext cx="9144000" cy="376200"/>
          </a:xfrm>
          <a:prstGeom prst="rect">
            <a:avLst/>
          </a:prstGeom>
          <a:solidFill>
            <a:schemeClr val="dk2"/>
          </a:solidFill>
          <a:ln w="12700" cap="flat" cmpd="sng">
            <a:solidFill>
              <a:srgbClr val="0C1C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>
            <a:spLocks noGrp="1"/>
          </p:cNvSpPr>
          <p:nvPr>
            <p:ph type="ctrTitle"/>
          </p:nvPr>
        </p:nvSpPr>
        <p:spPr>
          <a:xfrm>
            <a:off x="757238" y="1514471"/>
            <a:ext cx="76296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altLang="ko" dirty="0">
                <a:latin typeface="Arial" panose="020B0604020202020204" pitchFamily="34" charset="0"/>
                <a:cs typeface="Arial" panose="020B0604020202020204" pitchFamily="34" charset="0"/>
              </a:rPr>
              <a:t>Chapter1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위성궤도전파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차 발표</a:t>
            </a:r>
            <a:endParaRPr dirty="0"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45" name="Google Shape;145;p25"/>
          <p:cNvSpPr txBox="1">
            <a:spLocks noGrp="1"/>
          </p:cNvSpPr>
          <p:nvPr>
            <p:ph type="subTitle" idx="1"/>
          </p:nvPr>
        </p:nvSpPr>
        <p:spPr>
          <a:xfrm>
            <a:off x="5638640" y="2571750"/>
            <a:ext cx="2724469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122210472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" sz="1600" dirty="0">
                <a:latin typeface="Arial" panose="020B0604020202020204" pitchFamily="34" charset="0"/>
                <a:cs typeface="Arial" panose="020B0604020202020204" pitchFamily="34" charset="0"/>
              </a:rPr>
              <a:t>양동훈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ECDA65-F74C-78BA-04C4-57C594E6F4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ko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/>
          <p:nvPr/>
        </p:nvSpPr>
        <p:spPr>
          <a:xfrm>
            <a:off x="4814888" y="4487465"/>
            <a:ext cx="4329113" cy="273844"/>
          </a:xfrm>
          <a:custGeom>
            <a:avLst/>
            <a:gdLst/>
            <a:ahLst/>
            <a:cxnLst/>
            <a:rect l="l" t="t" r="r" b="b"/>
            <a:pathLst>
              <a:path w="5772150" h="365125" extrusionOk="0">
                <a:moveTo>
                  <a:pt x="1038225" y="0"/>
                </a:moveTo>
                <a:lnTo>
                  <a:pt x="5772150" y="0"/>
                </a:lnTo>
                <a:lnTo>
                  <a:pt x="5772150" y="365125"/>
                </a:lnTo>
                <a:lnTo>
                  <a:pt x="0" y="365125"/>
                </a:lnTo>
                <a:lnTo>
                  <a:pt x="1038225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6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altLang="ko"/>
              <a:t>2</a:t>
            </a:fld>
            <a:endParaRPr/>
          </a:p>
        </p:txBody>
      </p:sp>
      <p:grpSp>
        <p:nvGrpSpPr>
          <p:cNvPr id="152" name="Google Shape;152;p26"/>
          <p:cNvGrpSpPr/>
          <p:nvPr/>
        </p:nvGrpSpPr>
        <p:grpSpPr>
          <a:xfrm>
            <a:off x="972644" y="714373"/>
            <a:ext cx="3691689" cy="2204022"/>
            <a:chOff x="1458" y="152397"/>
            <a:chExt cx="4922252" cy="2938696"/>
          </a:xfrm>
        </p:grpSpPr>
        <p:sp>
          <p:nvSpPr>
            <p:cNvPr id="153" name="Google Shape;153;p26"/>
            <p:cNvSpPr/>
            <p:nvPr/>
          </p:nvSpPr>
          <p:spPr>
            <a:xfrm>
              <a:off x="10327" y="1107040"/>
              <a:ext cx="4395900" cy="1407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1B438A"/>
            </a:solidFill>
            <a:ln w="12700" cap="flat" cmpd="sng">
              <a:solidFill>
                <a:srgbClr val="1B438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54" name="Google Shape;154;p26"/>
            <p:cNvSpPr/>
            <p:nvPr/>
          </p:nvSpPr>
          <p:spPr>
            <a:xfrm rot="10800000" flipH="1">
              <a:off x="3454010" y="1161806"/>
              <a:ext cx="1469700" cy="153900"/>
            </a:xfrm>
            <a:prstGeom prst="trapezoid">
              <a:avLst>
                <a:gd name="adj" fmla="val 25000"/>
              </a:avLst>
            </a:prstGeom>
            <a:solidFill>
              <a:srgbClr val="F2F2F2">
                <a:alpha val="94510"/>
              </a:srgbClr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55" name="Google Shape;155;p26"/>
            <p:cNvSpPr/>
            <p:nvPr/>
          </p:nvSpPr>
          <p:spPr>
            <a:xfrm>
              <a:off x="308099" y="152397"/>
              <a:ext cx="4395900" cy="92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56" name="Google Shape;156;p26"/>
            <p:cNvSpPr txBox="1"/>
            <p:nvPr/>
          </p:nvSpPr>
          <p:spPr>
            <a:xfrm>
              <a:off x="308099" y="152397"/>
              <a:ext cx="4395900" cy="92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38100" rIns="57150" bIns="381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rial"/>
                <a:buNone/>
              </a:pPr>
              <a:r>
                <a:rPr lang="ko" sz="3000" b="0" i="0" u="none" strike="noStrike" cap="none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목차</a:t>
              </a:r>
              <a:endParaRPr sz="11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57" name="Google Shape;157;p26"/>
            <p:cNvSpPr/>
            <p:nvPr/>
          </p:nvSpPr>
          <p:spPr>
            <a:xfrm>
              <a:off x="1458" y="2495790"/>
              <a:ext cx="322800" cy="3228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1B438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58" name="Google Shape;158;p26"/>
            <p:cNvSpPr/>
            <p:nvPr/>
          </p:nvSpPr>
          <p:spPr>
            <a:xfrm>
              <a:off x="309164" y="1576641"/>
              <a:ext cx="4088100" cy="7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59" name="Google Shape;159;p26"/>
            <p:cNvSpPr txBox="1"/>
            <p:nvPr/>
          </p:nvSpPr>
          <p:spPr>
            <a:xfrm>
              <a:off x="309165" y="2338393"/>
              <a:ext cx="4295903" cy="7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2025" tIns="112025" rIns="112025" bIns="1120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endParaRPr sz="11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61" name="Google Shape;161;p26"/>
            <p:cNvSpPr/>
            <p:nvPr/>
          </p:nvSpPr>
          <p:spPr>
            <a:xfrm>
              <a:off x="309164" y="2329376"/>
              <a:ext cx="4088100" cy="7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</p:grpSp>
      <p:sp>
        <p:nvSpPr>
          <p:cNvPr id="164" name="Google Shape;164;p26"/>
          <p:cNvSpPr txBox="1"/>
          <p:nvPr/>
        </p:nvSpPr>
        <p:spPr>
          <a:xfrm>
            <a:off x="1202625" y="2347070"/>
            <a:ext cx="3066000" cy="5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025" tIns="112025" rIns="112025" bIns="11202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ko-KR" altLang="en-US" sz="16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파라미터 및 구현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6"/>
          <p:cNvSpPr/>
          <p:nvPr/>
        </p:nvSpPr>
        <p:spPr>
          <a:xfrm>
            <a:off x="972644" y="1881342"/>
            <a:ext cx="242100" cy="2421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B43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60;p26">
            <a:extLst>
              <a:ext uri="{FF2B5EF4-FFF2-40B4-BE49-F238E27FC236}">
                <a16:creationId xmlns:a16="http://schemas.microsoft.com/office/drawing/2014/main" id="{778E1468-E9AE-26BE-52DF-61E0C8682B9E}"/>
              </a:ext>
            </a:extLst>
          </p:cNvPr>
          <p:cNvSpPr/>
          <p:nvPr/>
        </p:nvSpPr>
        <p:spPr>
          <a:xfrm>
            <a:off x="971845" y="3053668"/>
            <a:ext cx="242100" cy="2421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B43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3" name="Google Shape;162;p26">
            <a:extLst>
              <a:ext uri="{FF2B5EF4-FFF2-40B4-BE49-F238E27FC236}">
                <a16:creationId xmlns:a16="http://schemas.microsoft.com/office/drawing/2014/main" id="{C18EC99A-D0FB-AF2A-184F-A2D425E045FC}"/>
              </a:ext>
            </a:extLst>
          </p:cNvPr>
          <p:cNvSpPr txBox="1"/>
          <p:nvPr/>
        </p:nvSpPr>
        <p:spPr>
          <a:xfrm>
            <a:off x="1202550" y="2911595"/>
            <a:ext cx="3066075" cy="56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025" tIns="112025" rIns="112025" bIns="1120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ko-KR" altLang="en-US" sz="1600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결과 시각화</a:t>
            </a:r>
            <a:endParaRPr sz="11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7" name="Google Shape;162;p26">
            <a:extLst>
              <a:ext uri="{FF2B5EF4-FFF2-40B4-BE49-F238E27FC236}">
                <a16:creationId xmlns:a16="http://schemas.microsoft.com/office/drawing/2014/main" id="{5685C3E5-54A4-A9F2-B9F0-6C969A962C33}"/>
              </a:ext>
            </a:extLst>
          </p:cNvPr>
          <p:cNvSpPr txBox="1"/>
          <p:nvPr/>
        </p:nvSpPr>
        <p:spPr>
          <a:xfrm>
            <a:off x="1215543" y="1730827"/>
            <a:ext cx="3066075" cy="56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025" tIns="112025" rIns="112025" bIns="1120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ko-KR" altLang="en-US" sz="1600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프로젝트 계획</a:t>
            </a:r>
            <a:endParaRPr sz="11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>
            <a:spLocks noGrp="1"/>
          </p:cNvSpPr>
          <p:nvPr>
            <p:ph type="sldNum" idx="12"/>
          </p:nvPr>
        </p:nvSpPr>
        <p:spPr>
          <a:xfrm>
            <a:off x="5250656" y="3613844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3</a:t>
            </a:fld>
            <a:endParaRPr/>
          </a:p>
        </p:txBody>
      </p:sp>
      <p:sp>
        <p:nvSpPr>
          <p:cNvPr id="172" name="Google Shape;172;p27"/>
          <p:cNvSpPr>
            <a:spLocks noGrp="1"/>
          </p:cNvSpPr>
          <p:nvPr>
            <p:ph type="dgm" idx="2"/>
          </p:nvPr>
        </p:nvSpPr>
        <p:spPr>
          <a:xfrm>
            <a:off x="1181393" y="2088232"/>
            <a:ext cx="2886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ko" sz="2600" b="1" dirty="0">
                <a:latin typeface="Arial" panose="020B0604020202020204" pitchFamily="34" charset="0"/>
                <a:cs typeface="Arial" panose="020B0604020202020204" pitchFamily="34" charset="0"/>
              </a:rPr>
              <a:t>프로젝트 </a:t>
            </a:r>
            <a:r>
              <a:rPr lang="ko-KR" alt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계획</a:t>
            </a:r>
            <a:endParaRPr sz="26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173" name="Google Shape;173;p27"/>
          <p:cNvSpPr/>
          <p:nvPr/>
        </p:nvSpPr>
        <p:spPr>
          <a:xfrm rot="-5400172">
            <a:off x="3543131" y="-831127"/>
            <a:ext cx="5999100" cy="5202600"/>
          </a:xfrm>
          <a:prstGeom prst="rtTriangle">
            <a:avLst/>
          </a:prstGeom>
          <a:gradFill>
            <a:gsLst>
              <a:gs pos="0">
                <a:srgbClr val="1C4587"/>
              </a:gs>
              <a:gs pos="100000">
                <a:schemeClr val="dk2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27"/>
          <p:cNvCxnSpPr>
            <a:cxnSpLocks/>
          </p:cNvCxnSpPr>
          <p:nvPr/>
        </p:nvCxnSpPr>
        <p:spPr>
          <a:xfrm>
            <a:off x="1233150" y="2560641"/>
            <a:ext cx="2139778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0784B847-9B3B-D594-76E4-3326BAD5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>
            <a:extLst>
              <a:ext uri="{FF2B5EF4-FFF2-40B4-BE49-F238E27FC236}">
                <a16:creationId xmlns:a16="http://schemas.microsoft.com/office/drawing/2014/main" id="{C57A4BD1-FE9E-9AAF-B68E-8436798E65C1}"/>
              </a:ext>
            </a:extLst>
          </p:cNvPr>
          <p:cNvSpPr txBox="1"/>
          <p:nvPr/>
        </p:nvSpPr>
        <p:spPr>
          <a:xfrm>
            <a:off x="442913" y="891062"/>
            <a:ext cx="80034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</a:t>
            </a:r>
            <a:r>
              <a:rPr lang="ko-KR" altLang="en-US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에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필요한 큰 개념을 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Notion 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플랫폼을 활용하여 개념 정리 후 구현을 진행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3DBEA58-6DE9-8A55-321F-538EE7AC75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4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21F5421-9BEE-7FEF-84E6-085551703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</a:t>
            </a:r>
          </a:p>
        </p:txBody>
      </p:sp>
      <p:pic>
        <p:nvPicPr>
          <p:cNvPr id="8" name="그림 7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01FD5B-8C7C-FB11-34BE-C36E30F8B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6530"/>
            <a:ext cx="2796926" cy="3594514"/>
          </a:xfrm>
          <a:prstGeom prst="rect">
            <a:avLst/>
          </a:prstGeom>
        </p:spPr>
      </p:pic>
      <p:pic>
        <p:nvPicPr>
          <p:cNvPr id="10" name="그림 9" descr="텍스트, 스크린샷, 소프트웨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30BA4D-0E4D-115E-A6F1-92ACBE9AD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6927" y="1306531"/>
            <a:ext cx="3047274" cy="3594514"/>
          </a:xfrm>
          <a:prstGeom prst="rect">
            <a:avLst/>
          </a:prstGeom>
        </p:spPr>
      </p:pic>
      <p:pic>
        <p:nvPicPr>
          <p:cNvPr id="12" name="그림 1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F6A2FB3-6F74-375B-1417-68923B4C9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4201" y="1306530"/>
            <a:ext cx="3299799" cy="359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31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1C8C7BAC-6E2A-7B91-DA87-439AED033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>
            <a:extLst>
              <a:ext uri="{FF2B5EF4-FFF2-40B4-BE49-F238E27FC236}">
                <a16:creationId xmlns:a16="http://schemas.microsoft.com/office/drawing/2014/main" id="{FAEF6B12-78A5-DABD-A238-88524AA1DB4B}"/>
              </a:ext>
            </a:extLst>
          </p:cNvPr>
          <p:cNvSpPr txBox="1"/>
          <p:nvPr/>
        </p:nvSpPr>
        <p:spPr>
          <a:xfrm>
            <a:off x="442913" y="805365"/>
            <a:ext cx="80034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세부일정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F3E4D2F-C232-E87B-E661-4A5952D452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5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656EA81-3E30-A1B6-06D8-710B7F09C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</a:t>
            </a:r>
          </a:p>
        </p:txBody>
      </p:sp>
      <p:pic>
        <p:nvPicPr>
          <p:cNvPr id="5" name="그림 4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6F9336-8025-A429-537E-0AF9AE3E6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3" y="1220833"/>
            <a:ext cx="7772400" cy="373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48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>
            <a:spLocks noGrp="1"/>
          </p:cNvSpPr>
          <p:nvPr>
            <p:ph type="sldNum" idx="12"/>
          </p:nvPr>
        </p:nvSpPr>
        <p:spPr>
          <a:xfrm>
            <a:off x="5250656" y="3613844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altLang="ko"/>
              <a:t>6</a:t>
            </a:fld>
            <a:endParaRPr/>
          </a:p>
        </p:txBody>
      </p:sp>
      <p:sp>
        <p:nvSpPr>
          <p:cNvPr id="191" name="Google Shape;191;p29"/>
          <p:cNvSpPr>
            <a:spLocks noGrp="1"/>
          </p:cNvSpPr>
          <p:nvPr>
            <p:ph type="dgm" idx="2"/>
          </p:nvPr>
        </p:nvSpPr>
        <p:spPr>
          <a:xfrm>
            <a:off x="1181393" y="2079606"/>
            <a:ext cx="309731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ko-KR" altLang="en-US" sz="2600" b="1" dirty="0"/>
              <a:t>파라미터 및 구현</a:t>
            </a:r>
            <a:endParaRPr sz="2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9"/>
          <p:cNvSpPr/>
          <p:nvPr/>
        </p:nvSpPr>
        <p:spPr>
          <a:xfrm rot="-5400172">
            <a:off x="3543131" y="-831127"/>
            <a:ext cx="5999100" cy="5202600"/>
          </a:xfrm>
          <a:prstGeom prst="rtTriangle">
            <a:avLst/>
          </a:prstGeom>
          <a:gradFill>
            <a:gsLst>
              <a:gs pos="0">
                <a:srgbClr val="1C4587"/>
              </a:gs>
              <a:gs pos="100000">
                <a:schemeClr val="dk2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29"/>
          <p:cNvCxnSpPr>
            <a:cxnSpLocks/>
          </p:cNvCxnSpPr>
          <p:nvPr/>
        </p:nvCxnSpPr>
        <p:spPr>
          <a:xfrm>
            <a:off x="1233150" y="2571750"/>
            <a:ext cx="2829892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07623335-4D03-EEC9-74F4-EC08F7425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>
            <a:extLst>
              <a:ext uri="{FF2B5EF4-FFF2-40B4-BE49-F238E27FC236}">
                <a16:creationId xmlns:a16="http://schemas.microsoft.com/office/drawing/2014/main" id="{F6BF8FAA-1310-FC4B-59A3-4450834C7B18}"/>
              </a:ext>
            </a:extLst>
          </p:cNvPr>
          <p:cNvSpPr txBox="1"/>
          <p:nvPr/>
        </p:nvSpPr>
        <p:spPr>
          <a:xfrm>
            <a:off x="442913" y="691367"/>
            <a:ext cx="80034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A2D9C4F-7A83-5DD1-E5C9-E26DD58480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7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8A3FCF3-94A1-21B5-D26D-4E32C57E8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파라미터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209290B-11A4-80D8-BB6B-1A4891521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852173"/>
              </p:ext>
            </p:extLst>
          </p:nvPr>
        </p:nvGraphicFramePr>
        <p:xfrm>
          <a:off x="442913" y="1106835"/>
          <a:ext cx="6096000" cy="3123540"/>
        </p:xfrm>
        <a:graphic>
          <a:graphicData uri="http://schemas.openxmlformats.org/drawingml/2006/table">
            <a:tbl>
              <a:tblPr firstRow="1" bandRow="1">
                <a:tableStyleId>{658C3E42-3E5C-4F1B-8652-82554BEA93F8}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3973872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830545135"/>
                    </a:ext>
                  </a:extLst>
                </a:gridCol>
              </a:tblGrid>
              <a:tr h="31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effectLst/>
                        </a:rPr>
                        <a:t>시간</a:t>
                      </a:r>
                      <a:r>
                        <a:rPr lang="en-US" altLang="ko-KR" dirty="0">
                          <a:effectLst/>
                        </a:rPr>
                        <a:t>(</a:t>
                      </a:r>
                      <a:r>
                        <a:rPr lang="en" dirty="0">
                          <a:effectLst/>
                        </a:rPr>
                        <a:t>KST, UTC +9)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>
                          <a:effectLst/>
                        </a:rPr>
                        <a:t>2025.12.19.00.00.00(</a:t>
                      </a:r>
                      <a:r>
                        <a:rPr lang="ko-KR" altLang="en-US">
                          <a:effectLst/>
                        </a:rPr>
                        <a:t>인천</a:t>
                      </a:r>
                      <a:r>
                        <a:rPr lang="en-US" altLang="ko-KR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8751400"/>
                  </a:ext>
                </a:extLst>
              </a:tr>
              <a:tr h="31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effectLst/>
                        </a:rPr>
                        <a:t>장반경</a:t>
                      </a:r>
                      <a:r>
                        <a:rPr lang="en-US" altLang="ko-KR">
                          <a:effectLst/>
                        </a:rPr>
                        <a:t>(</a:t>
                      </a:r>
                      <a:r>
                        <a:rPr lang="en">
                          <a:effectLst/>
                        </a:rPr>
                        <a:t>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</a:rPr>
                        <a:t>600km + </a:t>
                      </a:r>
                      <a:r>
                        <a:rPr lang="ko-KR" altLang="en-US">
                          <a:effectLst/>
                        </a:rPr>
                        <a:t>지구반경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5638365"/>
                  </a:ext>
                </a:extLst>
              </a:tr>
              <a:tr h="31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effectLst/>
                        </a:rPr>
                        <a:t>이심률</a:t>
                      </a:r>
                      <a:r>
                        <a:rPr lang="en-US" altLang="ko-KR">
                          <a:effectLst/>
                        </a:rPr>
                        <a:t>(</a:t>
                      </a:r>
                      <a:r>
                        <a:rPr lang="en">
                          <a:effectLst/>
                        </a:rPr>
                        <a:t>e)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1095142"/>
                  </a:ext>
                </a:extLst>
              </a:tr>
              <a:tr h="31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effectLst/>
                        </a:rPr>
                        <a:t>경사각</a:t>
                      </a:r>
                      <a:r>
                        <a:rPr lang="en-US" altLang="ko-KR">
                          <a:effectLst/>
                        </a:rPr>
                        <a:t>(</a:t>
                      </a:r>
                      <a:r>
                        <a:rPr lang="en">
                          <a:effectLst/>
                        </a:rPr>
                        <a:t>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</a:rPr>
                        <a:t>97.8 [deg]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6557932"/>
                  </a:ext>
                </a:extLst>
              </a:tr>
              <a:tr h="31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effectLst/>
                        </a:rPr>
                        <a:t>승교점이각</a:t>
                      </a:r>
                      <a:r>
                        <a:rPr lang="en-US" altLang="ko-KR">
                          <a:effectLst/>
                        </a:rPr>
                        <a:t>(</a:t>
                      </a:r>
                      <a:r>
                        <a:rPr lang="en">
                          <a:effectLst/>
                        </a:rPr>
                        <a:t>RAAN)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</a:rPr>
                        <a:t>0 [deg]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8133978"/>
                  </a:ext>
                </a:extLst>
              </a:tr>
              <a:tr h="31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effectLst/>
                        </a:rPr>
                        <a:t>근점이각</a:t>
                      </a:r>
                      <a:r>
                        <a:rPr lang="en-US" altLang="ko-KR">
                          <a:effectLst/>
                        </a:rPr>
                        <a:t>(</a:t>
                      </a:r>
                      <a:r>
                        <a:rPr lang="en">
                          <a:effectLst/>
                        </a:rPr>
                        <a:t>AOP)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</a:rPr>
                        <a:t>0 [deg]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3120714"/>
                  </a:ext>
                </a:extLst>
              </a:tr>
              <a:tr h="31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effectLst/>
                        </a:rPr>
                        <a:t>지상국 위도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>
                          <a:effectLst/>
                        </a:rPr>
                        <a:t>37°23'02"N [deg]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7116490"/>
                  </a:ext>
                </a:extLst>
              </a:tr>
              <a:tr h="31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effectLst/>
                        </a:rPr>
                        <a:t>지상국 경도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</a:rPr>
                        <a:t>126°39'25"E [deg]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603252"/>
                  </a:ext>
                </a:extLst>
              </a:tr>
              <a:tr h="31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effectLst/>
                        </a:rPr>
                        <a:t>해발고도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</a:rPr>
                        <a:t>0 [m]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6516940"/>
                  </a:ext>
                </a:extLst>
              </a:tr>
              <a:tr h="31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effectLst/>
                        </a:rPr>
                        <a:t>최소교신각도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>
                          <a:effectLst/>
                        </a:rPr>
                        <a:t>10 [deg]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5231480"/>
                  </a:ext>
                </a:extLst>
              </a:tr>
            </a:tbl>
          </a:graphicData>
        </a:graphic>
      </p:graphicFrame>
      <p:sp>
        <p:nvSpPr>
          <p:cNvPr id="9" name="Google Shape;225;p32">
            <a:extLst>
              <a:ext uri="{FF2B5EF4-FFF2-40B4-BE49-F238E27FC236}">
                <a16:creationId xmlns:a16="http://schemas.microsoft.com/office/drawing/2014/main" id="{CA6D9B41-CFDA-BA41-A2AF-39D717625F0D}"/>
              </a:ext>
            </a:extLst>
          </p:cNvPr>
          <p:cNvSpPr txBox="1"/>
          <p:nvPr/>
        </p:nvSpPr>
        <p:spPr>
          <a:xfrm>
            <a:off x="442913" y="4322691"/>
            <a:ext cx="80034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 1 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 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시간에 따른 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ECI 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값을 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ECEF 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좌표계로 변환하여 궤도를 전파한다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1798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/>
        </p:nvSpPr>
        <p:spPr>
          <a:xfrm>
            <a:off x="297671" y="915030"/>
            <a:ext cx="80034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초기 위치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(PQW)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로 정의 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432116D-ADF4-33B7-B488-5B1B098B3F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8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CE38D95-ECDD-36BB-8E57-3D95AC631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좌표계 변환 구현</a:t>
            </a:r>
          </a:p>
        </p:txBody>
      </p:sp>
      <p:pic>
        <p:nvPicPr>
          <p:cNvPr id="6" name="그림 5" descr="텍스트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E3498F-1918-5E37-56BF-DC89556B8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60" y="1330498"/>
            <a:ext cx="3750611" cy="669752"/>
          </a:xfrm>
          <a:prstGeom prst="rect">
            <a:avLst/>
          </a:prstGeom>
        </p:spPr>
      </p:pic>
      <p:sp>
        <p:nvSpPr>
          <p:cNvPr id="7" name="Google Shape;225;p32">
            <a:extLst>
              <a:ext uri="{FF2B5EF4-FFF2-40B4-BE49-F238E27FC236}">
                <a16:creationId xmlns:a16="http://schemas.microsoft.com/office/drawing/2014/main" id="{56F527BE-DCB3-6B52-A8BE-3497CBB5EF31}"/>
              </a:ext>
            </a:extLst>
          </p:cNvPr>
          <p:cNvSpPr txBox="1"/>
          <p:nvPr/>
        </p:nvSpPr>
        <p:spPr>
          <a:xfrm>
            <a:off x="297671" y="2222140"/>
            <a:ext cx="80034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회전행렬을 통해서 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PQW -&gt; ECI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로 변환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그림 8" descr="텍스트, 폰트, 스크린샷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B2A2E8-D395-9AC7-090A-1838A0FEC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" y="2601724"/>
            <a:ext cx="3078053" cy="16267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0CCAD56B-CC7A-BABA-E68B-029057CB3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>
            <a:extLst>
              <a:ext uri="{FF2B5EF4-FFF2-40B4-BE49-F238E27FC236}">
                <a16:creationId xmlns:a16="http://schemas.microsoft.com/office/drawing/2014/main" id="{637ABE70-690C-86F1-3C16-530F7E13C449}"/>
              </a:ext>
            </a:extLst>
          </p:cNvPr>
          <p:cNvSpPr txBox="1"/>
          <p:nvPr/>
        </p:nvSpPr>
        <p:spPr>
          <a:xfrm>
            <a:off x="297671" y="915030"/>
            <a:ext cx="80034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ODE</a:t>
            </a:r>
            <a:r>
              <a:rPr lang="ko-KR" altLang="en-US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를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정의하고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Solver</a:t>
            </a:r>
            <a:r>
              <a:rPr lang="ko-KR" altLang="en-US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를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이용하여 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ECI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에서의 궤도전파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C356657-8644-D061-715D-649EE22CCB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9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A570FD8-012F-CD5C-4728-4DAD2D83A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좌표계 변환 구현</a:t>
            </a:r>
          </a:p>
        </p:txBody>
      </p:sp>
      <p:pic>
        <p:nvPicPr>
          <p:cNvPr id="12" name="그림 1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A6D642-A13A-1A87-D323-A26907CF3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1228503"/>
            <a:ext cx="3750611" cy="2431505"/>
          </a:xfrm>
          <a:prstGeom prst="rect">
            <a:avLst/>
          </a:prstGeom>
        </p:spPr>
      </p:pic>
      <p:pic>
        <p:nvPicPr>
          <p:cNvPr id="14" name="그림 1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44D182-0939-CC71-46DB-84B73DE43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524" y="1330498"/>
            <a:ext cx="3174228" cy="183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62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D97033E7-9FFF-7485-FEAE-159404BEC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>
            <a:extLst>
              <a:ext uri="{FF2B5EF4-FFF2-40B4-BE49-F238E27FC236}">
                <a16:creationId xmlns:a16="http://schemas.microsoft.com/office/drawing/2014/main" id="{71DF79A5-5377-38D2-54A0-6D356C3750F9}"/>
              </a:ext>
            </a:extLst>
          </p:cNvPr>
          <p:cNvSpPr txBox="1"/>
          <p:nvPr/>
        </p:nvSpPr>
        <p:spPr>
          <a:xfrm>
            <a:off x="297670" y="915030"/>
            <a:ext cx="8846329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UTC</a:t>
            </a:r>
            <a:r>
              <a:rPr lang="ko-KR" altLang="en-US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를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기준으로 라이브러리를 통해 시간에 따른 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ECI 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좌표계를 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ECEF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좌표계로 변환하여 궤도 전파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8AB336E-6342-FDB0-3D86-B5395096F6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10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0338BBC-F9A9-94A3-A413-36F5A1E3E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좌표계 변환 구현</a:t>
            </a:r>
          </a:p>
        </p:txBody>
      </p:sp>
      <p:pic>
        <p:nvPicPr>
          <p:cNvPr id="5" name="그림 4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54A86F-C7C2-CCEE-8372-674944518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23" y="1330497"/>
            <a:ext cx="3444011" cy="750233"/>
          </a:xfrm>
          <a:prstGeom prst="rect">
            <a:avLst/>
          </a:prstGeom>
        </p:spPr>
      </p:pic>
      <p:pic>
        <p:nvPicPr>
          <p:cNvPr id="7" name="그림 6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AEEDBA-E16C-716C-FDF6-82A568F40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967" y="2080731"/>
            <a:ext cx="3863440" cy="194000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DD45D06-2C8A-AE95-4BBE-50586F2437B8}"/>
              </a:ext>
            </a:extLst>
          </p:cNvPr>
          <p:cNvSpPr/>
          <p:nvPr/>
        </p:nvSpPr>
        <p:spPr>
          <a:xfrm>
            <a:off x="840828" y="3090041"/>
            <a:ext cx="1408386" cy="283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Google Shape;225;p32">
            <a:extLst>
              <a:ext uri="{FF2B5EF4-FFF2-40B4-BE49-F238E27FC236}">
                <a16:creationId xmlns:a16="http://schemas.microsoft.com/office/drawing/2014/main" id="{244B8541-4507-E1A1-7E4F-7F6D5F6AF81B}"/>
              </a:ext>
            </a:extLst>
          </p:cNvPr>
          <p:cNvSpPr txBox="1"/>
          <p:nvPr/>
        </p:nvSpPr>
        <p:spPr>
          <a:xfrm>
            <a:off x="2182588" y="3054974"/>
            <a:ext cx="4968014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주어진 </a:t>
            </a:r>
            <a:r>
              <a:rPr lang="en-US" altLang="ko-K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UTC</a:t>
            </a:r>
            <a:r>
              <a:rPr lang="ko-KR" altLang="en-US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에</a:t>
            </a:r>
            <a:r>
              <a:rPr lang="ko-KR" alt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해당하는 날짜를 통해서 </a:t>
            </a:r>
            <a:r>
              <a:rPr lang="ko-KR" altLang="en-US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극이동</a:t>
            </a:r>
            <a:r>
              <a:rPr lang="ko-KR" alt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값을 고려하여 변환을 진행</a:t>
            </a:r>
            <a:endParaRPr lang="en-US" altLang="ko-KR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5663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1E083BF7-DCD7-A6BB-6744-4F26A7155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>
            <a:extLst>
              <a:ext uri="{FF2B5EF4-FFF2-40B4-BE49-F238E27FC236}">
                <a16:creationId xmlns:a16="http://schemas.microsoft.com/office/drawing/2014/main" id="{FAAC849F-68A8-CA74-0C87-9F8D846AD5EE}"/>
              </a:ext>
            </a:extLst>
          </p:cNvPr>
          <p:cNvSpPr txBox="1"/>
          <p:nvPr/>
        </p:nvSpPr>
        <p:spPr>
          <a:xfrm>
            <a:off x="297670" y="915030"/>
            <a:ext cx="8846329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주기 동안 전파된 궤도 시각화 구현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A6714FB-F612-2696-A708-8ADC7ED586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11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78F7B5D-F489-B770-BB7F-7A9952F4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좌표계 변환 구현</a:t>
            </a:r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971457-E18A-0E6D-44CE-CA02911A0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1330497"/>
            <a:ext cx="4276232" cy="302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818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B754D385-AFB3-2F58-3DF9-8B91E5271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22AEBCF-2D3A-A694-FBBF-5F7671DF8A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12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5C997C-3D94-5055-C0FB-E3915353D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태양위치 구현</a:t>
            </a:r>
            <a:r>
              <a:rPr lang="en-US" altLang="ko-KR" dirty="0"/>
              <a:t>(</a:t>
            </a:r>
            <a:r>
              <a:rPr lang="ko-KR" altLang="en-US" dirty="0"/>
              <a:t>라이브러리 사용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28B5C5-63B3-F966-798B-4A218F157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783960"/>
            <a:ext cx="5148591" cy="2897973"/>
          </a:xfrm>
          <a:prstGeom prst="rect">
            <a:avLst/>
          </a:prstGeom>
        </p:spPr>
      </p:pic>
      <p:sp>
        <p:nvSpPr>
          <p:cNvPr id="225" name="Google Shape;225;p32">
            <a:extLst>
              <a:ext uri="{FF2B5EF4-FFF2-40B4-BE49-F238E27FC236}">
                <a16:creationId xmlns:a16="http://schemas.microsoft.com/office/drawing/2014/main" id="{1226AD81-7B78-6BE7-068A-D239C8C358A5}"/>
              </a:ext>
            </a:extLst>
          </p:cNvPr>
          <p:cNvSpPr txBox="1"/>
          <p:nvPr/>
        </p:nvSpPr>
        <p:spPr>
          <a:xfrm>
            <a:off x="2613509" y="1530194"/>
            <a:ext cx="6087577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태양위치와 같은 천체력은 연속적인 시간 변수에 대해 정의되므로 </a:t>
            </a: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Julian Date</a:t>
            </a:r>
            <a:r>
              <a:rPr lang="ko-KR" altLang="en-US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를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이용하여 시간을 정의</a:t>
            </a:r>
            <a:endParaRPr lang="en-US" altLang="ko-KR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25;p32">
            <a:extLst>
              <a:ext uri="{FF2B5EF4-FFF2-40B4-BE49-F238E27FC236}">
                <a16:creationId xmlns:a16="http://schemas.microsoft.com/office/drawing/2014/main" id="{26103D2B-E815-19FF-F966-0386BB523468}"/>
              </a:ext>
            </a:extLst>
          </p:cNvPr>
          <p:cNvSpPr txBox="1"/>
          <p:nvPr/>
        </p:nvSpPr>
        <p:spPr>
          <a:xfrm>
            <a:off x="4288221" y="1894422"/>
            <a:ext cx="3321269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관성계에서 </a:t>
            </a:r>
            <a:r>
              <a:rPr lang="ko-KR" altLang="en-US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정의해야하므로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ECI 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좌표계에서 정의</a:t>
            </a:r>
            <a:endParaRPr lang="en-US" altLang="ko-KR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B7ECC1-D93E-AC0E-D047-7F6ECC876BF1}"/>
              </a:ext>
            </a:extLst>
          </p:cNvPr>
          <p:cNvSpPr/>
          <p:nvPr/>
        </p:nvSpPr>
        <p:spPr>
          <a:xfrm>
            <a:off x="442913" y="2571750"/>
            <a:ext cx="5148591" cy="9071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Google Shape;225;p32">
            <a:extLst>
              <a:ext uri="{FF2B5EF4-FFF2-40B4-BE49-F238E27FC236}">
                <a16:creationId xmlns:a16="http://schemas.microsoft.com/office/drawing/2014/main" id="{AC51CEA9-BEA2-9103-49D4-354A924FC69F}"/>
              </a:ext>
            </a:extLst>
          </p:cNvPr>
          <p:cNvSpPr txBox="1"/>
          <p:nvPr/>
        </p:nvSpPr>
        <p:spPr>
          <a:xfrm>
            <a:off x="5591504" y="2788177"/>
            <a:ext cx="3321269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위성과 태양의 상대위치 정의</a:t>
            </a:r>
            <a:endParaRPr lang="en-US" altLang="ko-KR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6707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96B5BD48-B595-B19F-F0AA-41A8A020D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B983FFB-6FBD-CD83-9485-A419D08850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13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AE9B518-D417-AC11-1D9A-EA7F8B628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태양위치 구현</a:t>
            </a:r>
            <a:r>
              <a:rPr lang="en-US" altLang="ko-KR" dirty="0"/>
              <a:t>(</a:t>
            </a:r>
            <a:r>
              <a:rPr lang="ko-KR" altLang="en-US" dirty="0"/>
              <a:t>근사식을 이용하여 함수 구현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FDDACB-C7CC-AFAB-4851-60F3AF221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789900"/>
            <a:ext cx="4707156" cy="3876693"/>
          </a:xfrm>
          <a:prstGeom prst="rect">
            <a:avLst/>
          </a:prstGeom>
        </p:spPr>
      </p:pic>
      <p:sp>
        <p:nvSpPr>
          <p:cNvPr id="10" name="Google Shape;225;p32">
            <a:extLst>
              <a:ext uri="{FF2B5EF4-FFF2-40B4-BE49-F238E27FC236}">
                <a16:creationId xmlns:a16="http://schemas.microsoft.com/office/drawing/2014/main" id="{24BD54F6-4C15-0598-2B42-1D6609B9969B}"/>
              </a:ext>
            </a:extLst>
          </p:cNvPr>
          <p:cNvSpPr txBox="1"/>
          <p:nvPr/>
        </p:nvSpPr>
        <p:spPr>
          <a:xfrm>
            <a:off x="2712409" y="1337750"/>
            <a:ext cx="3909109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율리우스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세기 수 정의</a:t>
            </a: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(century 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단위로 하여 계산 복잡도 낮춤</a:t>
            </a: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</p:txBody>
      </p:sp>
      <p:sp>
        <p:nvSpPr>
          <p:cNvPr id="7" name="Google Shape;225;p32">
            <a:extLst>
              <a:ext uri="{FF2B5EF4-FFF2-40B4-BE49-F238E27FC236}">
                <a16:creationId xmlns:a16="http://schemas.microsoft.com/office/drawing/2014/main" id="{B13A39D1-379E-7DB6-968A-77B70412305D}"/>
              </a:ext>
            </a:extLst>
          </p:cNvPr>
          <p:cNvSpPr txBox="1"/>
          <p:nvPr/>
        </p:nvSpPr>
        <p:spPr>
          <a:xfrm>
            <a:off x="4517758" y="1780280"/>
            <a:ext cx="3909109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 Anomaly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및 평균 </a:t>
            </a:r>
            <a:r>
              <a:rPr lang="ko-KR" altLang="en-US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황경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근사</a:t>
            </a:r>
            <a:endParaRPr lang="en-US" altLang="ko-KR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52C0AF7-A5B5-C0A1-CAD5-876AD3A02A89}"/>
              </a:ext>
            </a:extLst>
          </p:cNvPr>
          <p:cNvSpPr/>
          <p:nvPr/>
        </p:nvSpPr>
        <p:spPr>
          <a:xfrm>
            <a:off x="809297" y="1817898"/>
            <a:ext cx="3762704" cy="3385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77F8785-90EC-4C32-4F4D-E861A9512A59}"/>
              </a:ext>
            </a:extLst>
          </p:cNvPr>
          <p:cNvSpPr/>
          <p:nvPr/>
        </p:nvSpPr>
        <p:spPr>
          <a:xfrm>
            <a:off x="831057" y="2571750"/>
            <a:ext cx="3762704" cy="1325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Google Shape;225;p32">
            <a:extLst>
              <a:ext uri="{FF2B5EF4-FFF2-40B4-BE49-F238E27FC236}">
                <a16:creationId xmlns:a16="http://schemas.microsoft.com/office/drawing/2014/main" id="{1C0617C3-CBFC-14BB-307E-49189A10F20F}"/>
              </a:ext>
            </a:extLst>
          </p:cNvPr>
          <p:cNvSpPr txBox="1"/>
          <p:nvPr/>
        </p:nvSpPr>
        <p:spPr>
          <a:xfrm>
            <a:off x="4517758" y="2468749"/>
            <a:ext cx="4626242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Taylor 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근사를 통해서 태양 중심각 근사</a:t>
            </a: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anomaly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anomaly)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835AFB-5456-2C63-7DEB-F370AFDE23D5}"/>
              </a:ext>
            </a:extLst>
          </p:cNvPr>
          <p:cNvSpPr/>
          <p:nvPr/>
        </p:nvSpPr>
        <p:spPr>
          <a:xfrm>
            <a:off x="809296" y="3345245"/>
            <a:ext cx="3762704" cy="6381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Google Shape;225;p32">
            <a:extLst>
              <a:ext uri="{FF2B5EF4-FFF2-40B4-BE49-F238E27FC236}">
                <a16:creationId xmlns:a16="http://schemas.microsoft.com/office/drawing/2014/main" id="{861A9334-F0B8-C4AB-3617-4D3788C99EE5}"/>
              </a:ext>
            </a:extLst>
          </p:cNvPr>
          <p:cNvSpPr txBox="1"/>
          <p:nvPr/>
        </p:nvSpPr>
        <p:spPr>
          <a:xfrm>
            <a:off x="4593761" y="3518198"/>
            <a:ext cx="4626242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황도경사 회전을 고려하여 </a:t>
            </a:r>
            <a:r>
              <a:rPr lang="ko-KR" altLang="en-US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좌표값을</a:t>
            </a:r>
            <a:r>
              <a:rPr lang="ko-KR" alt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다음과 같이 정의 </a:t>
            </a:r>
            <a:endParaRPr lang="en-US" altLang="ko-KR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6588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1A8B7E0C-A2B0-0493-23D3-95500B57C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>
            <a:extLst>
              <a:ext uri="{FF2B5EF4-FFF2-40B4-BE49-F238E27FC236}">
                <a16:creationId xmlns:a16="http://schemas.microsoft.com/office/drawing/2014/main" id="{BF1C07B4-B631-AB14-43C1-DBCF64F088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250656" y="3613844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14</a:t>
            </a:fld>
            <a:endParaRPr/>
          </a:p>
        </p:txBody>
      </p:sp>
      <p:sp>
        <p:nvSpPr>
          <p:cNvPr id="332" name="Google Shape;332;p44">
            <a:extLst>
              <a:ext uri="{FF2B5EF4-FFF2-40B4-BE49-F238E27FC236}">
                <a16:creationId xmlns:a16="http://schemas.microsoft.com/office/drawing/2014/main" id="{CDEBE959-217E-B751-D646-12E43C067887}"/>
              </a:ext>
            </a:extLst>
          </p:cNvPr>
          <p:cNvSpPr>
            <a:spLocks noGrp="1"/>
          </p:cNvSpPr>
          <p:nvPr>
            <p:ph type="dgm" idx="2"/>
          </p:nvPr>
        </p:nvSpPr>
        <p:spPr>
          <a:xfrm>
            <a:off x="1233150" y="2036475"/>
            <a:ext cx="2886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ko-KR" altLang="en-US" sz="2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결과 시각화</a:t>
            </a:r>
            <a:endParaRPr sz="2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4">
            <a:extLst>
              <a:ext uri="{FF2B5EF4-FFF2-40B4-BE49-F238E27FC236}">
                <a16:creationId xmlns:a16="http://schemas.microsoft.com/office/drawing/2014/main" id="{2F08A92E-AEB8-FC7F-0D71-E8F7498D67B9}"/>
              </a:ext>
            </a:extLst>
          </p:cNvPr>
          <p:cNvSpPr/>
          <p:nvPr/>
        </p:nvSpPr>
        <p:spPr>
          <a:xfrm rot="-5400172">
            <a:off x="3543131" y="-831127"/>
            <a:ext cx="5999100" cy="5202600"/>
          </a:xfrm>
          <a:prstGeom prst="rtTriangle">
            <a:avLst/>
          </a:prstGeom>
          <a:gradFill>
            <a:gsLst>
              <a:gs pos="0">
                <a:srgbClr val="1C4587"/>
              </a:gs>
              <a:gs pos="100000">
                <a:schemeClr val="dk2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44">
            <a:extLst>
              <a:ext uri="{FF2B5EF4-FFF2-40B4-BE49-F238E27FC236}">
                <a16:creationId xmlns:a16="http://schemas.microsoft.com/office/drawing/2014/main" id="{E3CEB03C-53CE-C3CD-5034-A96B593F21F2}"/>
              </a:ext>
            </a:extLst>
          </p:cNvPr>
          <p:cNvCxnSpPr/>
          <p:nvPr/>
        </p:nvCxnSpPr>
        <p:spPr>
          <a:xfrm>
            <a:off x="1233150" y="2571750"/>
            <a:ext cx="21957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90195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56C4D686-C881-7BE2-D9FD-8710BAD65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4ABFE71-7803-CBBF-1DB1-1A6814A0E6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15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1138127-26B7-5561-C908-D25451A32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ECI, ECEF </a:t>
            </a:r>
            <a:r>
              <a:rPr lang="ko-KR" altLang="en-US" dirty="0"/>
              <a:t>궤도 전파</a:t>
            </a:r>
          </a:p>
        </p:txBody>
      </p:sp>
      <p:pic>
        <p:nvPicPr>
          <p:cNvPr id="5" name="그림 4" descr="도표, 스크린샷, 원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F7B912-D9CB-30B8-D4C3-578D104C9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376" y="970674"/>
            <a:ext cx="54610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983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A5F87148-6E41-5457-3F8F-BF0EB79FF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58693E9-E446-6B70-6B14-1A7CE0A4D0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16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B14404A-2A44-F6C4-F07D-5B39E64E8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Ground Track</a:t>
            </a:r>
            <a:endParaRPr lang="ko-KR" altLang="en-US" dirty="0"/>
          </a:p>
        </p:txBody>
      </p:sp>
      <p:pic>
        <p:nvPicPr>
          <p:cNvPr id="5" name="그림 4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661F3A-5E5C-3857-B950-8E0E1897F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00" y="981184"/>
            <a:ext cx="54610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23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58171F52-3AFE-B290-E2C7-56FBB4C76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623F5BE-A45F-E8C6-619D-6F1737F169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17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2B151E7-1443-8712-2300-3332072EB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태양위치 비교</a:t>
            </a:r>
          </a:p>
        </p:txBody>
      </p:sp>
      <p:sp>
        <p:nvSpPr>
          <p:cNvPr id="3" name="Google Shape;225;p32">
            <a:extLst>
              <a:ext uri="{FF2B5EF4-FFF2-40B4-BE49-F238E27FC236}">
                <a16:creationId xmlns:a16="http://schemas.microsoft.com/office/drawing/2014/main" id="{C7FCFAE5-0847-A701-75FC-FA768F278606}"/>
              </a:ext>
            </a:extLst>
          </p:cNvPr>
          <p:cNvSpPr txBox="1"/>
          <p:nvPr/>
        </p:nvSpPr>
        <p:spPr>
          <a:xfrm>
            <a:off x="442913" y="870043"/>
            <a:ext cx="1427928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라이브러리 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25;p32">
            <a:extLst>
              <a:ext uri="{FF2B5EF4-FFF2-40B4-BE49-F238E27FC236}">
                <a16:creationId xmlns:a16="http://schemas.microsoft.com/office/drawing/2014/main" id="{61C5C07D-BD8E-9D35-E64C-BEE35A64DC42}"/>
              </a:ext>
            </a:extLst>
          </p:cNvPr>
          <p:cNvSpPr txBox="1"/>
          <p:nvPr/>
        </p:nvSpPr>
        <p:spPr>
          <a:xfrm>
            <a:off x="4572000" y="870043"/>
            <a:ext cx="1427928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함수 구현 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그림 6" descr="텍스트, 메뉴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8E7528-2CB5-E5E6-EF78-BF84DD6C3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08" y="1285511"/>
            <a:ext cx="2279266" cy="3265468"/>
          </a:xfrm>
          <a:prstGeom prst="rect">
            <a:avLst/>
          </a:prstGeom>
        </p:spPr>
      </p:pic>
      <p:pic>
        <p:nvPicPr>
          <p:cNvPr id="9" name="그림 8" descr="텍스트, 메뉴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E251EC-C1EE-97BB-F5ED-4CFA18D28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295" y="1285511"/>
            <a:ext cx="2279266" cy="326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228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2534D89B-EC57-68DE-6E88-47169530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>
            <a:extLst>
              <a:ext uri="{FF2B5EF4-FFF2-40B4-BE49-F238E27FC236}">
                <a16:creationId xmlns:a16="http://schemas.microsoft.com/office/drawing/2014/main" id="{E004843D-4635-0D33-0D7B-40AC2241FF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250656" y="3613844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18</a:t>
            </a:fld>
            <a:endParaRPr/>
          </a:p>
        </p:txBody>
      </p:sp>
      <p:sp>
        <p:nvSpPr>
          <p:cNvPr id="332" name="Google Shape;332;p44">
            <a:extLst>
              <a:ext uri="{FF2B5EF4-FFF2-40B4-BE49-F238E27FC236}">
                <a16:creationId xmlns:a16="http://schemas.microsoft.com/office/drawing/2014/main" id="{74813364-AC92-A8FE-DCC7-A2C6BEA08BEC}"/>
              </a:ext>
            </a:extLst>
          </p:cNvPr>
          <p:cNvSpPr>
            <a:spLocks noGrp="1"/>
          </p:cNvSpPr>
          <p:nvPr>
            <p:ph type="dgm" idx="2"/>
          </p:nvPr>
        </p:nvSpPr>
        <p:spPr>
          <a:xfrm>
            <a:off x="1233150" y="2036475"/>
            <a:ext cx="2886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600" b="1" dirty="0"/>
              <a:t>Q&amp;A</a:t>
            </a:r>
            <a:endParaRPr sz="2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4">
            <a:extLst>
              <a:ext uri="{FF2B5EF4-FFF2-40B4-BE49-F238E27FC236}">
                <a16:creationId xmlns:a16="http://schemas.microsoft.com/office/drawing/2014/main" id="{00014482-0A99-4CC8-ECF5-F6E8FFD07152}"/>
              </a:ext>
            </a:extLst>
          </p:cNvPr>
          <p:cNvSpPr/>
          <p:nvPr/>
        </p:nvSpPr>
        <p:spPr>
          <a:xfrm rot="-5400172">
            <a:off x="3543131" y="-831127"/>
            <a:ext cx="5999100" cy="5202600"/>
          </a:xfrm>
          <a:prstGeom prst="rtTriangle">
            <a:avLst/>
          </a:prstGeom>
          <a:gradFill>
            <a:gsLst>
              <a:gs pos="0">
                <a:srgbClr val="1C4587"/>
              </a:gs>
              <a:gs pos="100000">
                <a:schemeClr val="dk2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44">
            <a:extLst>
              <a:ext uri="{FF2B5EF4-FFF2-40B4-BE49-F238E27FC236}">
                <a16:creationId xmlns:a16="http://schemas.microsoft.com/office/drawing/2014/main" id="{0A83377A-BA02-5472-FD06-B2F9EF2B6A75}"/>
              </a:ext>
            </a:extLst>
          </p:cNvPr>
          <p:cNvCxnSpPr/>
          <p:nvPr/>
        </p:nvCxnSpPr>
        <p:spPr>
          <a:xfrm>
            <a:off x="1233150" y="2571750"/>
            <a:ext cx="21957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24FF3B5-BA25-2195-ED0C-7BA2E83CF866}"/>
              </a:ext>
            </a:extLst>
          </p:cNvPr>
          <p:cNvSpPr txBox="1"/>
          <p:nvPr/>
        </p:nvSpPr>
        <p:spPr>
          <a:xfrm>
            <a:off x="231228" y="3036763"/>
            <a:ext cx="434077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50" dirty="0"/>
              <a:t>궁금한 점</a:t>
            </a:r>
            <a:endParaRPr kumimoji="1" lang="en-US" altLang="ko-KR" sz="1050" dirty="0"/>
          </a:p>
          <a:p>
            <a:pPr marL="342900" indent="-342900">
              <a:buAutoNum type="arabicPeriod"/>
            </a:pPr>
            <a:r>
              <a:rPr kumimoji="1" lang="ko-KR" altLang="en-US" sz="1050" dirty="0"/>
              <a:t>단위 태양 위치 벡터가 변화가 그렇게 많지 않은데 </a:t>
            </a:r>
            <a:r>
              <a:rPr kumimoji="1" lang="ko-KR" altLang="en-US" sz="1050" dirty="0" err="1"/>
              <a:t>당연한건지</a:t>
            </a:r>
            <a:r>
              <a:rPr kumimoji="1" lang="en-US" altLang="ko-KR" sz="1050" dirty="0"/>
              <a:t>?</a:t>
            </a:r>
          </a:p>
          <a:p>
            <a:pPr marL="342900" indent="-342900">
              <a:buAutoNum type="arabicPeriod"/>
            </a:pPr>
            <a:r>
              <a:rPr kumimoji="1" lang="ko-KR" altLang="en-US" sz="1050" dirty="0"/>
              <a:t>제어기 설계 관련</a:t>
            </a:r>
          </a:p>
        </p:txBody>
      </p:sp>
    </p:spTree>
    <p:extLst>
      <p:ext uri="{BB962C8B-B14F-4D97-AF65-F5344CB8AC3E}">
        <p14:creationId xmlns:p14="http://schemas.microsoft.com/office/powerpoint/2010/main" val="370788723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사용자 지정 1">
      <a:dk1>
        <a:srgbClr val="000000"/>
      </a:dk1>
      <a:lt1>
        <a:srgbClr val="FFFFFF"/>
      </a:lt1>
      <a:dk2>
        <a:srgbClr val="213574"/>
      </a:dk2>
      <a:lt2>
        <a:srgbClr val="F9F9F9"/>
      </a:lt2>
      <a:accent1>
        <a:srgbClr val="1E438A"/>
      </a:accent1>
      <a:accent2>
        <a:srgbClr val="F6BB14"/>
      </a:accent2>
      <a:accent3>
        <a:srgbClr val="F4801E"/>
      </a:accent3>
      <a:accent4>
        <a:srgbClr val="F04C26"/>
      </a:accent4>
      <a:accent5>
        <a:srgbClr val="9FC131"/>
      </a:accent5>
      <a:accent6>
        <a:srgbClr val="506266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329</Words>
  <Application>Microsoft Macintosh PowerPoint</Application>
  <PresentationFormat>화면 슬라이드 쇼(16:9)</PresentationFormat>
  <Paragraphs>86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Arial</vt:lpstr>
      <vt:lpstr>Calibri</vt:lpstr>
      <vt:lpstr>Wingdings</vt:lpstr>
      <vt:lpstr>Simple Light</vt:lpstr>
      <vt:lpstr>Office 테마</vt:lpstr>
      <vt:lpstr>Chapter1 위성궤도전파 1차 발표</vt:lpstr>
      <vt:lpstr>PowerPoint 프레젠테이션</vt:lpstr>
      <vt:lpstr>PowerPoint 프레젠테이션</vt:lpstr>
      <vt:lpstr>프로젝트 계획</vt:lpstr>
      <vt:lpstr>프로젝트 계획</vt:lpstr>
      <vt:lpstr>PowerPoint 프레젠테이션</vt:lpstr>
      <vt:lpstr>파라미터</vt:lpstr>
      <vt:lpstr>좌표계 변환 구현</vt:lpstr>
      <vt:lpstr>좌표계 변환 구현</vt:lpstr>
      <vt:lpstr>좌표계 변환 구현</vt:lpstr>
      <vt:lpstr>좌표계 변환 구현</vt:lpstr>
      <vt:lpstr>태양위치 구현(라이브러리 사용)</vt:lpstr>
      <vt:lpstr>태양위치 구현(근사식을 이용하여 함수 구현)</vt:lpstr>
      <vt:lpstr>PowerPoint 프레젠테이션</vt:lpstr>
      <vt:lpstr>ECI, ECEF 궤도 전파</vt:lpstr>
      <vt:lpstr>Ground Track</vt:lpstr>
      <vt:lpstr>태양위치 비교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양재훈</dc:creator>
  <cp:lastModifiedBy>양동훈</cp:lastModifiedBy>
  <cp:revision>6</cp:revision>
  <dcterms:modified xsi:type="dcterms:W3CDTF">2025-12-29T14:01:02Z</dcterms:modified>
</cp:coreProperties>
</file>