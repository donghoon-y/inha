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64" r:id="rId2"/>
    <p:sldId id="365" r:id="rId3"/>
    <p:sldId id="354" r:id="rId4"/>
    <p:sldId id="366" r:id="rId5"/>
    <p:sldId id="367" r:id="rId6"/>
    <p:sldId id="368" r:id="rId7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21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08" autoAdjust="0"/>
    <p:restoredTop sz="89145" autoAdjust="0"/>
  </p:normalViewPr>
  <p:slideViewPr>
    <p:cSldViewPr>
      <p:cViewPr varScale="1">
        <p:scale>
          <a:sx n="98" d="100"/>
          <a:sy n="98" d="100"/>
        </p:scale>
        <p:origin x="178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0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6" y="2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374ABC-CD4E-4F52-890D-C81AB4C23B3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9"/>
            <a:ext cx="5438140" cy="446770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30094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6" y="9430094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AFB9F0-8E3B-4219-848E-E51390361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8585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E512A-2D78-FB4C-E110-730DA5D34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F9A11C-B236-8E4A-4719-D293B82A9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342EEA-2A8F-7039-4167-BE5BD18A4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B8D3B-8477-5860-D20A-570ECD6CCE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FB9F0-8E3B-4219-848E-E51390361C1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554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793A7-5678-C532-409F-4FA2B4D8D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4C7657-56DC-F4AA-24FA-C23AE21D5C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D45F39-D0AB-1A2F-60F1-2E19A3D6E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3EC44-EB75-7294-3D70-263766DBE6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FB9F0-8E3B-4219-848E-E51390361C1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868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FB9F0-8E3B-4219-848E-E51390361C1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33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AC113-19C5-5FF2-8061-DDBD788E9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330BE9-CB07-F5C5-63C0-D4214F7224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8C9C0E-A879-FFC7-4291-2FE3503CD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ACC0F-CEE3-BC26-7389-C1386A399B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FB9F0-8E3B-4219-848E-E51390361C1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509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48031-64E4-2B62-6457-F4DAC7947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0992C9-BFDD-FAAA-BB89-F441110B9F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7DCC1E-E8A6-E4D5-09EB-63D58CE47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52F70-C2EB-7D4A-94DD-601C16E6AD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FB9F0-8E3B-4219-848E-E51390361C1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755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A7402-D736-BAE6-7F9D-5E65B83F1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9A4F38-E8DE-7C68-0141-5260B3E3FD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2DEFBF-78A5-CAA6-382E-5FE8AAB93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0D02C-A0E8-7711-59A5-67D8742DDD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FB9F0-8E3B-4219-848E-E51390361C1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192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685800" y="1166887"/>
            <a:ext cx="7772400" cy="1470025"/>
          </a:xfrm>
        </p:spPr>
        <p:txBody>
          <a:bodyPr>
            <a:normAutofit/>
          </a:bodyPr>
          <a:lstStyle>
            <a:lvl1pPr>
              <a:defRPr sz="2500" b="1" baseline="0">
                <a:latin typeface="Tahoma" pitchFamily="34" charset="0"/>
              </a:defRPr>
            </a:lvl1pPr>
          </a:lstStyle>
          <a:p>
            <a:r>
              <a:rPr lang="ko-KR" altLang="en-US" dirty="0"/>
              <a:t>제목을 입력하세요</a:t>
            </a:r>
            <a:br>
              <a:rPr lang="en-US" altLang="ko-KR" dirty="0"/>
            </a:br>
            <a:r>
              <a:rPr lang="en-US" altLang="ko-KR" dirty="0"/>
              <a:t>Enter Presentation Title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051720" y="3980656"/>
            <a:ext cx="6400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000" baseline="0">
                <a:solidFill>
                  <a:schemeClr val="tx1"/>
                </a:solidFill>
                <a:latin typeface="Arial Unicode MS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부제목</a:t>
            </a:r>
          </a:p>
        </p:txBody>
      </p:sp>
    </p:spTree>
    <p:extLst>
      <p:ext uri="{BB962C8B-B14F-4D97-AF65-F5344CB8AC3E}">
        <p14:creationId xmlns:p14="http://schemas.microsoft.com/office/powerpoint/2010/main" val="3218862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7092280" y="6597352"/>
            <a:ext cx="2051720" cy="26064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02840" y="284300"/>
            <a:ext cx="8589640" cy="634082"/>
          </a:xfrm>
        </p:spPr>
        <p:txBody>
          <a:bodyPr>
            <a:normAutofit/>
          </a:bodyPr>
          <a:lstStyle>
            <a:lvl1pPr algn="just">
              <a:defRPr sz="2800" b="1" i="0" baseline="0">
                <a:latin typeface="Arial Black" pitchFamily="34" charset="0"/>
                <a:ea typeface="+mj-ea"/>
                <a:cs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내용 개체 틀 2"/>
          <p:cNvSpPr>
            <a:spLocks noGrp="1"/>
          </p:cNvSpPr>
          <p:nvPr>
            <p:ph idx="1" hasCustomPrompt="1"/>
          </p:nvPr>
        </p:nvSpPr>
        <p:spPr>
          <a:xfrm>
            <a:off x="302840" y="996044"/>
            <a:ext cx="8589640" cy="5529300"/>
          </a:xfrm>
        </p:spPr>
        <p:txBody>
          <a:bodyPr>
            <a:normAutofit/>
          </a:bodyPr>
          <a:lstStyle>
            <a:lvl1pPr marL="342900" indent="-342900">
              <a:buClr>
                <a:srgbClr val="FF0000"/>
              </a:buClr>
              <a:buFont typeface="Wingdings" pitchFamily="2" charset="2"/>
              <a:buChar char="l"/>
              <a:defRPr sz="2000" b="1" i="0" baseline="0">
                <a:latin typeface="Arial" pitchFamily="34" charset="0"/>
                <a:cs typeface="Arial" pitchFamily="34" charset="0"/>
              </a:defRPr>
            </a:lvl1pPr>
            <a:lvl2pPr marL="447675" indent="-180975">
              <a:buClr>
                <a:srgbClr val="321BBB"/>
              </a:buClr>
              <a:buFont typeface="Wingdings" pitchFamily="2" charset="2"/>
              <a:buChar char="§"/>
              <a:defRPr sz="1800" b="1" i="0" baseline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810000" indent="-180000">
              <a:defRPr sz="1600" baseline="0">
                <a:latin typeface="Times New Roman" pitchFamily="18" charset="0"/>
                <a:cs typeface="Times New Roman" pitchFamily="18" charset="0"/>
              </a:defRPr>
            </a:lvl3pPr>
            <a:lvl4pPr marL="1188000">
              <a:spcBef>
                <a:spcPts val="432"/>
              </a:spcBef>
              <a:defRPr sz="1400">
                <a:latin typeface="Times New Roman" pitchFamily="18" charset="0"/>
                <a:cs typeface="Times New Roman" pitchFamily="18" charset="0"/>
              </a:defRPr>
            </a:lvl4pPr>
            <a:lvl5pPr>
              <a:defRPr sz="14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3" name="Rectangle 2"/>
          <p:cNvSpPr/>
          <p:nvPr userDrawn="1"/>
        </p:nvSpPr>
        <p:spPr>
          <a:xfrm>
            <a:off x="0" y="6597352"/>
            <a:ext cx="7092280" cy="2606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7884368" y="6509205"/>
            <a:ext cx="864096" cy="365760"/>
          </a:xfrm>
          <a:prstGeom prst="rect">
            <a:avLst/>
          </a:prstGeom>
        </p:spPr>
        <p:txBody>
          <a:bodyPr vert="horz" anchor="b"/>
          <a:lstStyle>
            <a:lvl1pPr algn="just" eaLnBrk="1" latinLnBrk="0" hangingPunct="1">
              <a:defRPr kumimoji="0" sz="1400" baseline="0">
                <a:solidFill>
                  <a:schemeClr val="bg1"/>
                </a:solidFill>
                <a:latin typeface="Times New Roman" pitchFamily="18" charset="0"/>
                <a:ea typeface="맑은 고딕" pitchFamily="50" charset="-127"/>
              </a:defRPr>
            </a:lvl1pPr>
          </a:lstStyle>
          <a:p>
            <a:fld id="{D8FB0366-3672-4301-B332-E847E42C037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3" name="Rectangle 22"/>
          <p:cNvSpPr/>
          <p:nvPr userDrawn="1"/>
        </p:nvSpPr>
        <p:spPr>
          <a:xfrm>
            <a:off x="0" y="1948"/>
            <a:ext cx="9144000" cy="26064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Straight Connector 5">
            <a:extLst>
              <a:ext uri="{FF2B5EF4-FFF2-40B4-BE49-F238E27FC236}">
                <a16:creationId xmlns:a16="http://schemas.microsoft.com/office/drawing/2014/main" id="{9AE0ACF1-F271-637C-B881-62CA41A1D97A}"/>
              </a:ext>
            </a:extLst>
          </p:cNvPr>
          <p:cNvCxnSpPr/>
          <p:nvPr userDrawn="1"/>
        </p:nvCxnSpPr>
        <p:spPr>
          <a:xfrm>
            <a:off x="0" y="908720"/>
            <a:ext cx="9144000" cy="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723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3E43660-101F-A3E4-5E56-B6017465839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5536" y="2225703"/>
            <a:ext cx="8589640" cy="2232248"/>
          </a:xfrm>
        </p:spPr>
        <p:txBody>
          <a:bodyPr>
            <a:normAutofit/>
          </a:bodyPr>
          <a:lstStyle>
            <a:lvl1pPr marL="0" indent="0">
              <a:buClr>
                <a:srgbClr val="FF0000"/>
              </a:buClr>
              <a:buFontTx/>
              <a:buNone/>
              <a:defRPr sz="2400" b="1" i="0" baseline="0">
                <a:latin typeface="Arial" pitchFamily="34" charset="0"/>
                <a:cs typeface="Arial" pitchFamily="34" charset="0"/>
              </a:defRPr>
            </a:lvl1pPr>
            <a:lvl2pPr marL="447675" indent="-180975">
              <a:buClr>
                <a:srgbClr val="321BBB"/>
              </a:buClr>
              <a:buFont typeface="Wingdings" pitchFamily="2" charset="2"/>
              <a:buChar char="§"/>
              <a:defRPr lang="ko-KR" altLang="en-US" sz="2000" b="1" i="0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810000" indent="-180000">
              <a:defRPr sz="1600" baseline="0">
                <a:latin typeface="Times New Roman" pitchFamily="18" charset="0"/>
                <a:cs typeface="Times New Roman" pitchFamily="18" charset="0"/>
              </a:defRPr>
            </a:lvl3pPr>
            <a:lvl4pPr marL="1188000">
              <a:spcBef>
                <a:spcPts val="432"/>
              </a:spcBef>
              <a:defRPr sz="1400">
                <a:latin typeface="Times New Roman" pitchFamily="18" charset="0"/>
                <a:cs typeface="Times New Roman" pitchFamily="18" charset="0"/>
              </a:defRPr>
            </a:lvl4pPr>
            <a:lvl5pPr>
              <a:defRPr sz="14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95CC9C19-D0AF-327A-26A2-B21915EF9298}"/>
              </a:ext>
            </a:extLst>
          </p:cNvPr>
          <p:cNvSpPr/>
          <p:nvPr userDrawn="1"/>
        </p:nvSpPr>
        <p:spPr>
          <a:xfrm>
            <a:off x="7092280" y="6597352"/>
            <a:ext cx="2051720" cy="26064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2643335-2D4D-32AE-A83B-6CEE853B8399}"/>
              </a:ext>
            </a:extLst>
          </p:cNvPr>
          <p:cNvSpPr/>
          <p:nvPr userDrawn="1"/>
        </p:nvSpPr>
        <p:spPr>
          <a:xfrm>
            <a:off x="0" y="6597352"/>
            <a:ext cx="7092280" cy="26064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슬라이드 번호 개체 틀 22">
            <a:extLst>
              <a:ext uri="{FF2B5EF4-FFF2-40B4-BE49-F238E27FC236}">
                <a16:creationId xmlns:a16="http://schemas.microsoft.com/office/drawing/2014/main" id="{36F7EED6-6D1E-158D-B1BF-FDA2A38E5831}"/>
              </a:ext>
            </a:extLst>
          </p:cNvPr>
          <p:cNvSpPr txBox="1">
            <a:spLocks/>
          </p:cNvSpPr>
          <p:nvPr userDrawn="1"/>
        </p:nvSpPr>
        <p:spPr>
          <a:xfrm>
            <a:off x="7884368" y="6509205"/>
            <a:ext cx="864096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ko-KR"/>
            </a:defPPr>
            <a:lvl1pPr marL="0" algn="just" defTabSz="914400" rtl="0" eaLnBrk="1" latinLnBrk="0" hangingPunct="1">
              <a:defRPr kumimoji="0" sz="1400" kern="1200" baseline="0">
                <a:solidFill>
                  <a:schemeClr val="bg1"/>
                </a:solidFill>
                <a:latin typeface="Times New Roman" pitchFamily="18" charset="0"/>
                <a:ea typeface="맑은 고딕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8FB0366-3672-4301-B332-E847E42C037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2" name="Rectangle 22">
            <a:extLst>
              <a:ext uri="{FF2B5EF4-FFF2-40B4-BE49-F238E27FC236}">
                <a16:creationId xmlns:a16="http://schemas.microsoft.com/office/drawing/2014/main" id="{0BDD1217-AA81-4CDD-844F-A4E701CCC260}"/>
              </a:ext>
            </a:extLst>
          </p:cNvPr>
          <p:cNvSpPr/>
          <p:nvPr userDrawn="1"/>
        </p:nvSpPr>
        <p:spPr>
          <a:xfrm>
            <a:off x="0" y="1948"/>
            <a:ext cx="9144000" cy="26064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7554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EBE7-C3A5-48CE-833A-F65D4AE6DD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6608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EBE7-C3A5-48CE-833A-F65D4AE6DD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750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EBE7-C3A5-48CE-833A-F65D4AE6DD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98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EBE7-C3A5-48CE-833A-F65D4AE6DD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425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EBE7-C3A5-48CE-833A-F65D4AE6DD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948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EBE7-C3A5-48CE-833A-F65D4AE6DD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7828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EBE7-C3A5-48CE-833A-F65D4AE6DD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300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EBE7-C3A5-48CE-833A-F65D4AE6DD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0981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3EBE7-C3A5-48CE-833A-F65D4AE6DD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73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0774D-1249-F3E1-8363-6222D67BD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E684AF-005F-8465-F8BD-D5623B728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2025 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동계 학부연구생 프로그램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D6B5FCED-2011-E2A6-1D83-5C7051A2B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기간</a:t>
            </a:r>
            <a:endParaRPr lang="en-US" altLang="ko-KR" dirty="0">
              <a:ea typeface="맑은 고딕" panose="020B0503020000020004" pitchFamily="50" charset="-127"/>
            </a:endParaRPr>
          </a:p>
          <a:p>
            <a:pPr lvl="1"/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’25.12</a:t>
            </a:r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중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– ’26.2</a:t>
            </a:r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중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(</a:t>
            </a:r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약 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2</a:t>
            </a:r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개월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)</a:t>
            </a:r>
          </a:p>
          <a:p>
            <a:endParaRPr lang="en-US" altLang="ko-KR" dirty="0">
              <a:ea typeface="맑은 고딕" panose="020B0503020000020004" pitchFamily="50" charset="-127"/>
            </a:endParaRPr>
          </a:p>
          <a:p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참여자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(</a:t>
            </a:r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가나다 순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)</a:t>
            </a:r>
          </a:p>
          <a:p>
            <a:pPr lvl="1"/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성민규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, </a:t>
            </a:r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양동훈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, </a:t>
            </a:r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유지윤</a:t>
            </a:r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lvl="1"/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항공우주공학과 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3</a:t>
            </a:r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학년</a:t>
            </a:r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lvl="1"/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모임 형태</a:t>
            </a:r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lvl="1"/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오프라인</a:t>
            </a:r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lvl="1"/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격주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(</a:t>
            </a:r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약 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4</a:t>
            </a:r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회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)</a:t>
            </a:r>
          </a:p>
          <a:p>
            <a:pPr lvl="1"/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모임 사이 질문은 이메일로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(shmok@inha.ac.kr)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50CDB-7F69-5885-3028-8C5E434252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8FB0366-3672-4301-B332-E847E42C0375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8041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CABDD-D8CF-B94F-51FC-4AEF060C9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4787E1-F3EB-79E6-B631-00E81702C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프로젝트 요약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9EE02011-58C4-4E26-8174-A4FAE75B2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주제</a:t>
            </a:r>
            <a:endParaRPr lang="en-US" altLang="ko-KR" dirty="0">
              <a:ea typeface="맑은 고딕" panose="020B0503020000020004" pitchFamily="50" charset="-127"/>
            </a:endParaRPr>
          </a:p>
          <a:p>
            <a:pPr lvl="1"/>
            <a:r>
              <a:rPr lang="ko-KR" altLang="en-US" dirty="0">
                <a:ea typeface="맑은 고딕" panose="020B0503020000020004" pitchFamily="50" charset="-127"/>
              </a:rPr>
              <a:t>위성 지상관측임무 자세제어 시뮬레이션 및 가시화</a:t>
            </a:r>
            <a:br>
              <a:rPr lang="en-US" altLang="ko-KR" dirty="0">
                <a:ea typeface="맑은 고딕" panose="020B0503020000020004" pitchFamily="50" charset="-127"/>
              </a:rPr>
            </a:br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소주제</a:t>
            </a:r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lvl="1"/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위성 궤도 전파</a:t>
            </a:r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lvl="1"/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위성 자세 제어</a:t>
            </a:r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lvl="1"/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결과 가시화</a:t>
            </a:r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lvl="1"/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r>
              <a:rPr lang="ko-KR" altLang="en-US" dirty="0">
                <a:ea typeface="맑은 고딕" panose="020B0503020000020004" pitchFamily="50" charset="-127"/>
              </a:rPr>
              <a:t>연구 환경</a:t>
            </a:r>
            <a:r>
              <a:rPr lang="en-US" altLang="ko-KR" dirty="0"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a typeface="맑은 고딕" panose="020B0503020000020004" pitchFamily="50" charset="-127"/>
              </a:rPr>
              <a:t>툴</a:t>
            </a:r>
            <a:r>
              <a:rPr lang="en-US" altLang="ko-KR" dirty="0">
                <a:ea typeface="맑은 고딕" panose="020B0503020000020004" pitchFamily="50" charset="-127"/>
              </a:rPr>
              <a:t>)</a:t>
            </a:r>
          </a:p>
          <a:p>
            <a:pPr lvl="1"/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MATLAB</a:t>
            </a:r>
          </a:p>
          <a:p>
            <a:pPr lvl="1"/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r>
              <a:rPr lang="ko-KR" altLang="en-US" dirty="0">
                <a:ea typeface="맑은 고딕" panose="020B0503020000020004" pitchFamily="50" charset="-127"/>
              </a:rPr>
              <a:t>프로젝트 형태</a:t>
            </a:r>
            <a:endParaRPr lang="en-US" altLang="ko-KR" dirty="0">
              <a:ea typeface="맑은 고딕" panose="020B0503020000020004" pitchFamily="50" charset="-127"/>
            </a:endParaRPr>
          </a:p>
          <a:p>
            <a:pPr lvl="1"/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개인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(</a:t>
            </a:r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물론 학생들 간 논의 적극 권장합니다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.)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8F3779-0964-EC9C-999F-A179608AA5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8FB0366-3672-4301-B332-E847E42C0375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4820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연구 내용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ea typeface="맑은 고딕" panose="020B0503020000020004" pitchFamily="50" charset="-127"/>
              </a:rPr>
              <a:t>위성 궤도 전파</a:t>
            </a:r>
            <a:endParaRPr lang="en-US" altLang="ko-KR" dirty="0">
              <a:ea typeface="맑은 고딕" panose="020B0503020000020004" pitchFamily="50" charset="-127"/>
            </a:endParaRPr>
          </a:p>
          <a:p>
            <a:pPr lvl="1"/>
            <a:r>
              <a:rPr lang="ko-KR" altLang="en-US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시간계</a:t>
            </a:r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lvl="2"/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세계협정시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(UTC), </a:t>
            </a:r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지방시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(LC)</a:t>
            </a:r>
          </a:p>
          <a:p>
            <a:pPr lvl="1"/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좌표계</a:t>
            </a:r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lvl="2"/>
            <a:r>
              <a:rPr lang="ko-KR" altLang="en-US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지구관성좌표계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(ECI), </a:t>
            </a:r>
            <a:r>
              <a:rPr lang="ko-KR" altLang="en-US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지구고정좌표계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(ECEF)</a:t>
            </a:r>
          </a:p>
          <a:p>
            <a:pPr lvl="1"/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궤도역학</a:t>
            </a:r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lvl="2"/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이체역학</a:t>
            </a:r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lvl="1"/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우주 환경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(</a:t>
            </a:r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천체력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)</a:t>
            </a:r>
          </a:p>
          <a:p>
            <a:pPr lvl="2"/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태양위치</a:t>
            </a:r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lvl="2"/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lvl="2"/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lvl="1"/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최종 연구 결과</a:t>
            </a:r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lvl="2"/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시간에 따른 궤도 프로파일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(ECI, ECEF)</a:t>
            </a:r>
          </a:p>
          <a:p>
            <a:pPr lvl="1"/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F37AAA-1E29-F358-93AC-63F84DE3B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8FB0366-3672-4301-B332-E847E42C0375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5279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B6FC7-527C-4FF2-BC7A-CC1DADD84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73144B-587A-4A19-50AB-76939B135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연구 내용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2FFA02B1-A0BA-E2C7-BA42-B43AF7791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ea typeface="맑은 고딕" panose="020B0503020000020004" pitchFamily="50" charset="-127"/>
              </a:rPr>
              <a:t>2. </a:t>
            </a:r>
            <a:r>
              <a:rPr lang="ko-KR" altLang="en-US" dirty="0">
                <a:ea typeface="맑은 고딕" panose="020B0503020000020004" pitchFamily="50" charset="-127"/>
              </a:rPr>
              <a:t>위성 자세 제어</a:t>
            </a:r>
            <a:endParaRPr lang="en-US" altLang="ko-KR" dirty="0">
              <a:ea typeface="맑은 고딕" panose="020B0503020000020004" pitchFamily="50" charset="-127"/>
            </a:endParaRPr>
          </a:p>
          <a:p>
            <a:pPr lvl="1"/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자세 표현</a:t>
            </a:r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lvl="2"/>
            <a:r>
              <a:rPr lang="ko-KR" altLang="en-US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오일러</a:t>
            </a:r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각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, </a:t>
            </a:r>
            <a:r>
              <a:rPr lang="ko-KR" altLang="en-US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쿼터니언</a:t>
            </a:r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lvl="1"/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자세 동역학</a:t>
            </a:r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lvl="2"/>
            <a:r>
              <a:rPr lang="ko-KR" altLang="en-US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쿼터니언</a:t>
            </a:r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운동학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, </a:t>
            </a:r>
            <a:r>
              <a:rPr lang="ko-KR" altLang="en-US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오일러</a:t>
            </a:r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방정식</a:t>
            </a:r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lvl="1"/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자세 제어</a:t>
            </a:r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lvl="2"/>
            <a:r>
              <a:rPr lang="ko-KR" altLang="en-US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쿼터니언</a:t>
            </a:r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기반 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PD </a:t>
            </a:r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제어기 </a:t>
            </a:r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lvl="1"/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자세 제어 적용</a:t>
            </a:r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lvl="2"/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태양 지향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(</a:t>
            </a:r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관성 지향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)</a:t>
            </a:r>
          </a:p>
          <a:p>
            <a:pPr lvl="2"/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지상 표적 지향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(</a:t>
            </a:r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지구 지향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)</a:t>
            </a:r>
          </a:p>
          <a:p>
            <a:pPr lvl="2"/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lvl="2"/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lvl="1"/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최종 연구 결과</a:t>
            </a:r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lvl="2"/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시간에 따른 자세 프로파일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(</a:t>
            </a:r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자세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, </a:t>
            </a:r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각속도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)</a:t>
            </a:r>
          </a:p>
          <a:p>
            <a:pPr lvl="2"/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시간에 따른 자세 제어 입력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(</a:t>
            </a:r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토크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)</a:t>
            </a:r>
          </a:p>
          <a:p>
            <a:pPr lvl="2"/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47C150-5D18-FB41-E1B6-C0472A7E2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8FB0366-3672-4301-B332-E847E42C0375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3522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865A9-B00A-7006-138B-1CB7C3132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651EAB-171B-C6D3-F46D-D1D35D2AC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연구 내용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DCFE1B0-685F-019A-505B-53D40B69B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ea typeface="맑은 고딕" panose="020B0503020000020004" pitchFamily="50" charset="-127"/>
              </a:rPr>
              <a:t>3. </a:t>
            </a:r>
            <a:r>
              <a:rPr lang="ko-KR" altLang="en-US" dirty="0">
                <a:ea typeface="맑은 고딕" panose="020B0503020000020004" pitchFamily="50" charset="-127"/>
              </a:rPr>
              <a:t>가시화</a:t>
            </a:r>
            <a:endParaRPr lang="en-US" altLang="ko-KR" dirty="0">
              <a:ea typeface="맑은 고딕" panose="020B0503020000020004" pitchFamily="50" charset="-127"/>
            </a:endParaRPr>
          </a:p>
          <a:p>
            <a:pPr lvl="1"/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궤도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, </a:t>
            </a:r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자세 프로파일 결과를 애니메이션 형태로 가시화</a:t>
            </a:r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lvl="1"/>
            <a:r>
              <a:rPr lang="ko-KR" altLang="en-US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툴박스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: Satellite Communication Toolbox</a:t>
            </a:r>
          </a:p>
          <a:p>
            <a:pPr lvl="1"/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최종 연구 결과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(</a:t>
            </a:r>
            <a:r>
              <a:rPr lang="ko-KR" altLang="en-US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참고만</a:t>
            </a:r>
            <a:r>
              <a:rPr lang="en-US" altLang="ko-KR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24D941-A3E8-9CBD-877D-511E4033AE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8FB0366-3672-4301-B332-E847E42C0375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pic>
        <p:nvPicPr>
          <p:cNvPr id="4" name="그림 3" descr="스크린샷, 텍스트, 멀티미디어 소프트웨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29A792-CE48-18D1-CC80-4F6A817D7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4026" y="2564904"/>
            <a:ext cx="4985084" cy="393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406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B599B-1BCB-B7B5-9279-DF4576C4D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C5DD6D-B6A7-3F0F-BADD-99DC14323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숙제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B1610FFA-6537-E612-2155-90F663026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연구 일정 수립</a:t>
            </a:r>
            <a:endParaRPr lang="en-US" altLang="ko-KR" dirty="0">
              <a:ea typeface="맑은 고딕" panose="020B0503020000020004" pitchFamily="50" charset="-127"/>
            </a:endParaRPr>
          </a:p>
          <a:p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r>
              <a:rPr lang="ko-KR" altLang="en-US" dirty="0">
                <a:ea typeface="맑은 고딕" panose="020B0503020000020004" pitchFamily="50" charset="-127"/>
              </a:rPr>
              <a:t>연구 주제</a:t>
            </a:r>
            <a:endParaRPr lang="en-US" altLang="ko-KR" dirty="0">
              <a:ea typeface="맑은 고딕" panose="020B0503020000020004" pitchFamily="50" charset="-127"/>
            </a:endParaRPr>
          </a:p>
          <a:p>
            <a:pPr lvl="1"/>
            <a:r>
              <a:rPr lang="en-US" altLang="ko-KR" dirty="0"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ea typeface="맑은 고딕" panose="020B0503020000020004" pitchFamily="50" charset="-127"/>
              </a:rPr>
              <a:t>위성 궤도 전파</a:t>
            </a:r>
            <a:endParaRPr lang="en-US" altLang="ko-KR" dirty="0">
              <a:ea typeface="맑은 고딕" panose="020B0503020000020004" pitchFamily="50" charset="-127"/>
            </a:endParaRPr>
          </a:p>
          <a:p>
            <a:pPr lvl="1"/>
            <a:endParaRPr lang="en-US" altLang="ko-KR" dirty="0">
              <a:ea typeface="맑은 고딕" panose="020B0503020000020004" pitchFamily="50" charset="-127"/>
            </a:endParaRPr>
          </a:p>
          <a:p>
            <a:r>
              <a:rPr lang="en-US" altLang="ko-KR" dirty="0">
                <a:ea typeface="맑은 고딕" panose="020B0503020000020004" pitchFamily="50" charset="-127"/>
              </a:rPr>
              <a:t>2</a:t>
            </a:r>
            <a:r>
              <a:rPr lang="ko-KR" altLang="en-US" dirty="0">
                <a:ea typeface="맑은 고딕" panose="020B0503020000020004" pitchFamily="50" charset="-127"/>
              </a:rPr>
              <a:t>주 후 만납시다 </a:t>
            </a:r>
            <a:r>
              <a:rPr lang="en-US" altLang="ko-KR" dirty="0">
                <a:ea typeface="맑은 고딕" panose="020B0503020000020004" pitchFamily="50" charset="-127"/>
              </a:rPr>
              <a:t>^^</a:t>
            </a:r>
            <a:r>
              <a:rPr lang="ko-KR" altLang="en-US" dirty="0">
                <a:ea typeface="맑은 고딕" panose="020B0503020000020004" pitchFamily="50" charset="-127"/>
              </a:rPr>
              <a:t> </a:t>
            </a:r>
            <a:endParaRPr lang="en-US" altLang="ko-KR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826AAE-E91B-61A1-7638-520020BD8D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8FB0366-3672-4301-B332-E847E42C0375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5446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26826</TotalTime>
  <Words>245</Words>
  <Application>Microsoft Office PowerPoint</Application>
  <PresentationFormat>화면 슬라이드 쇼(4:3)</PresentationFormat>
  <Paragraphs>79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5" baseType="lpstr">
      <vt:lpstr>Arial Unicode MS</vt:lpstr>
      <vt:lpstr>HY헤드라인M</vt:lpstr>
      <vt:lpstr>맑은 고딕</vt:lpstr>
      <vt:lpstr>Arial</vt:lpstr>
      <vt:lpstr>Arial Black</vt:lpstr>
      <vt:lpstr>Tahoma</vt:lpstr>
      <vt:lpstr>Times New Roman</vt:lpstr>
      <vt:lpstr>Wingdings</vt:lpstr>
      <vt:lpstr>Office 테마</vt:lpstr>
      <vt:lpstr>2025 동계 학부연구생 프로그램</vt:lpstr>
      <vt:lpstr>프로젝트 요약</vt:lpstr>
      <vt:lpstr>연구 내용</vt:lpstr>
      <vt:lpstr>연구 내용</vt:lpstr>
      <vt:lpstr>연구 내용</vt:lpstr>
      <vt:lpstr>숙제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MOK</dc:creator>
  <cp:lastModifiedBy>Sung-Hoon Mok</cp:lastModifiedBy>
  <cp:revision>664</cp:revision>
  <cp:lastPrinted>2018-03-16T01:51:19Z</cp:lastPrinted>
  <dcterms:created xsi:type="dcterms:W3CDTF">2012-10-06T06:24:55Z</dcterms:created>
  <dcterms:modified xsi:type="dcterms:W3CDTF">2025-12-19T00:55:07Z</dcterms:modified>
</cp:coreProperties>
</file>