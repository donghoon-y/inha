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79" r:id="rId6"/>
    <p:sldId id="260" r:id="rId7"/>
    <p:sldId id="280" r:id="rId8"/>
    <p:sldId id="281" r:id="rId9"/>
    <p:sldId id="290" r:id="rId10"/>
    <p:sldId id="291" r:id="rId11"/>
    <p:sldId id="293" r:id="rId12"/>
    <p:sldId id="292" r:id="rId13"/>
    <p:sldId id="276" r:id="rId14"/>
    <p:sldId id="282" r:id="rId15"/>
    <p:sldId id="289" r:id="rId16"/>
    <p:sldId id="294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8C3E42-3E5C-4F1B-8652-82554BEA93F8}">
  <a:tblStyle styleId="{658C3E42-3E5C-4F1B-8652-82554BEA93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C2CEA3D-DB3E-4EFB-A376-C7360E467C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706"/>
  </p:normalViewPr>
  <p:slideViewPr>
    <p:cSldViewPr snapToGrid="0">
      <p:cViewPr varScale="1">
        <p:scale>
          <a:sx n="149" d="100"/>
          <a:sy n="149" d="100"/>
        </p:scale>
        <p:origin x="48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a405f6bca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5a405f6bc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a405f6bca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5a405f6bca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f716acda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9f716acdab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9f716acdab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99D35490-9241-6819-D86D-691C275E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60068907-6173-8EAE-7362-758879587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4D628E3C-8E2F-42CA-A61E-E3BA5F7A6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3085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a405f6bca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5a405f6bca_0_4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5a405f6bca_0_4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28503CE1-96AF-2675-2E3B-0D4CF4A9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DC013054-83D8-D71F-0E4C-959061BB5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EAFBF6C8-ECA9-8E9C-C2D2-E81810FBD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9342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4EFAFC05-566F-5B73-5079-569A730B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EED4A01C-35E1-F4E2-F14D-79EF3890BE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FB6274D0-B52A-EB12-46BB-781A3B2B3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8825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159D847E-6A14-A48B-E1A6-39A50DED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5DB2E87C-7AEE-C3BC-AE12-0705EBA46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FC84A0C2-F4BB-032C-A5EE-9AB9AF1E7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3542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14585CBF-D428-47F7-BCF9-7DA07A01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515453AA-007A-53B9-3FA5-615EB9B20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6B7D93C1-0723-65A3-8CF2-8DC69C949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91714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AA8FFBB6-95FA-D6ED-5F8E-80BB65CD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C1ECC768-CF5E-6E3C-D361-5667AB600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4D782F42-6E61-BD21-EAA0-C538D32E6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5872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B3413297-F462-A1E8-CCC7-AF48326E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3C2F653D-75A3-11F0-F6B4-62C6441A7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72E01652-BA2A-6E73-ED6F-20B06B04E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8353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108CA926-7758-8A59-9048-37DEDB6C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a405f6bca_0_525:notes">
            <a:extLst>
              <a:ext uri="{FF2B5EF4-FFF2-40B4-BE49-F238E27FC236}">
                <a16:creationId xmlns:a16="http://schemas.microsoft.com/office/drawing/2014/main" id="{FEC48E09-6BD4-D8EA-6956-02BD66A76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a405f6bca_0_525:notes">
            <a:extLst>
              <a:ext uri="{FF2B5EF4-FFF2-40B4-BE49-F238E27FC236}">
                <a16:creationId xmlns:a16="http://schemas.microsoft.com/office/drawing/2014/main" id="{F959C60D-C022-32DD-8113-E6EC139DC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5a405f6bca_0_525:notes">
            <a:extLst>
              <a:ext uri="{FF2B5EF4-FFF2-40B4-BE49-F238E27FC236}">
                <a16:creationId xmlns:a16="http://schemas.microsoft.com/office/drawing/2014/main" id="{0B5CE156-BB00-45B3-2E80-0545F8AAE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2293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A121E0AC-94AE-7190-4D26-AF96E483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56BF4859-619B-F1DE-FADD-264FFD4ED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271D4AA0-E838-5B8B-84E5-ACD347356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5740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84C9279C-5E4B-F46B-0DE3-AA1C5532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a405f6bca_0_525:notes">
            <a:extLst>
              <a:ext uri="{FF2B5EF4-FFF2-40B4-BE49-F238E27FC236}">
                <a16:creationId xmlns:a16="http://schemas.microsoft.com/office/drawing/2014/main" id="{0162A55E-A8C1-F623-03A6-72A749ADC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a405f6bca_0_525:notes">
            <a:extLst>
              <a:ext uri="{FF2B5EF4-FFF2-40B4-BE49-F238E27FC236}">
                <a16:creationId xmlns:a16="http://schemas.microsoft.com/office/drawing/2014/main" id="{B5E36D94-9DC1-9980-941A-B6D22D71B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5a405f6bca_0_525:notes">
            <a:extLst>
              <a:ext uri="{FF2B5EF4-FFF2-40B4-BE49-F238E27FC236}">
                <a16:creationId xmlns:a16="http://schemas.microsoft.com/office/drawing/2014/main" id="{290BA2C2-83CA-A016-8344-4191C4A823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194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BD596CEB-382F-7D27-51AE-2F34C7C5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0215EE27-D31C-FCBF-1981-07FFF712E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A2F89A56-2986-E4D8-AFEB-3D376F954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3687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0" y="3629030"/>
            <a:ext cx="6847904" cy="1516262"/>
          </a:xfrm>
          <a:custGeom>
            <a:avLst/>
            <a:gdLst/>
            <a:ahLst/>
            <a:cxnLst/>
            <a:rect l="l" t="t" r="r" b="b"/>
            <a:pathLst>
              <a:path w="7848600" h="2580871" extrusionOk="0">
                <a:moveTo>
                  <a:pt x="0" y="2580871"/>
                </a:moveTo>
                <a:lnTo>
                  <a:pt x="0" y="0"/>
                </a:lnTo>
                <a:cubicBezTo>
                  <a:pt x="1752600" y="580890"/>
                  <a:pt x="3800474" y="1666606"/>
                  <a:pt x="5705474" y="1714096"/>
                </a:cubicBezTo>
                <a:cubicBezTo>
                  <a:pt x="6610349" y="1733146"/>
                  <a:pt x="6867525" y="2399896"/>
                  <a:pt x="7848600" y="2580871"/>
                </a:cubicBezTo>
                <a:lnTo>
                  <a:pt x="0" y="258087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757238" y="1514471"/>
            <a:ext cx="7629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5472113" y="2536790"/>
            <a:ext cx="27933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8265319" y="0"/>
            <a:ext cx="878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814388" y="764381"/>
            <a:ext cx="62367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4"/>
          <p:cNvSpPr txBox="1"/>
          <p:nvPr/>
        </p:nvSpPr>
        <p:spPr>
          <a:xfrm>
            <a:off x="757238" y="715563"/>
            <a:ext cx="76296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Arial"/>
              <a:buNone/>
            </a:pPr>
            <a:r>
              <a:rPr lang="ko-KR" altLang="en-US" sz="41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학부연구생</a:t>
            </a:r>
            <a:r>
              <a:rPr lang="ko" sz="41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프로젝트</a:t>
            </a:r>
            <a:endParaRPr sz="41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0" y="4636293"/>
            <a:ext cx="9144000" cy="50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3059" y="3893624"/>
            <a:ext cx="1464470" cy="430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4"/>
          <p:cNvCxnSpPr/>
          <p:nvPr/>
        </p:nvCxnSpPr>
        <p:spPr>
          <a:xfrm>
            <a:off x="5729288" y="2857500"/>
            <a:ext cx="2535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" name="Google Shape;69;p14"/>
          <p:cNvSpPr txBox="1"/>
          <p:nvPr/>
        </p:nvSpPr>
        <p:spPr>
          <a:xfrm>
            <a:off x="57150" y="4865761"/>
            <a:ext cx="3972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Inha University, </a:t>
            </a:r>
            <a:r>
              <a:rPr lang="en-US" alt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Undergraduate Research</a:t>
            </a:r>
            <a:r>
              <a:rPr 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 Projects Presentation</a:t>
            </a:r>
            <a:endParaRPr sz="1000" b="0" i="0" u="none" strike="noStrike" cap="none" dirty="0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>
  <p:cSld name="빈 화면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74" name="Google Shape;74;p15"/>
          <p:cNvSpPr>
            <a:spLocks noGrp="1"/>
          </p:cNvSpPr>
          <p:nvPr>
            <p:ph type="dgm" idx="2"/>
          </p:nvPr>
        </p:nvSpPr>
        <p:spPr>
          <a:xfrm>
            <a:off x="1050131" y="707231"/>
            <a:ext cx="2886000" cy="3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-1"/>
            <a:ext cx="9144000" cy="73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442913" y="1012031"/>
            <a:ext cx="8072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-78581" y="733424"/>
            <a:ext cx="93300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96" name="Google Shape;96;p18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06" name="Google Shape;106;p19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12" name="Google Shape;112;p20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 rot="5400000">
            <a:off x="2847450" y="-1392469"/>
            <a:ext cx="3263400" cy="80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33" name="Google Shape;133;p23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42913" y="1012031"/>
            <a:ext cx="8072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4767263"/>
            <a:ext cx="9144000" cy="376200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rgbClr val="0C1C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ctrTitle"/>
          </p:nvPr>
        </p:nvSpPr>
        <p:spPr>
          <a:xfrm>
            <a:off x="757238" y="1514471"/>
            <a:ext cx="7629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altLang="ko" dirty="0">
                <a:latin typeface="Arial" panose="020B0604020202020204" pitchFamily="34" charset="0"/>
                <a:cs typeface="Arial" panose="020B0604020202020204" pitchFamily="34" charset="0"/>
              </a:rPr>
              <a:t>Chapter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2-1</a:t>
            </a:r>
            <a:r>
              <a:rPr lang="en-US" altLang="ko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위성 자세 제어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차 발표</a:t>
            </a:r>
            <a:endParaRPr dirty="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45" name="Google Shape;145;p25"/>
          <p:cNvSpPr txBox="1">
            <a:spLocks noGrp="1"/>
          </p:cNvSpPr>
          <p:nvPr>
            <p:ph type="subTitle" idx="1"/>
          </p:nvPr>
        </p:nvSpPr>
        <p:spPr>
          <a:xfrm>
            <a:off x="5638640" y="2571750"/>
            <a:ext cx="2724469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122210472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" sz="1600" dirty="0">
                <a:latin typeface="Arial" panose="020B0604020202020204" pitchFamily="34" charset="0"/>
                <a:cs typeface="Arial" panose="020B0604020202020204" pitchFamily="34" charset="0"/>
              </a:rPr>
              <a:t>양동훈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ECDA65-F74C-78BA-04C4-57C594E6F4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ko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4814888" y="4487465"/>
            <a:ext cx="4329113" cy="273844"/>
          </a:xfrm>
          <a:custGeom>
            <a:avLst/>
            <a:gdLst/>
            <a:ahLst/>
            <a:cxnLst/>
            <a:rect l="l" t="t" r="r" b="b"/>
            <a:pathLst>
              <a:path w="5772150" h="365125" extrusionOk="0">
                <a:moveTo>
                  <a:pt x="1038225" y="0"/>
                </a:moveTo>
                <a:lnTo>
                  <a:pt x="5772150" y="0"/>
                </a:lnTo>
                <a:lnTo>
                  <a:pt x="5772150" y="365125"/>
                </a:lnTo>
                <a:lnTo>
                  <a:pt x="0" y="365125"/>
                </a:lnTo>
                <a:lnTo>
                  <a:pt x="1038225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altLang="ko"/>
              <a:t>2</a:t>
            </a:fld>
            <a:endParaRPr/>
          </a:p>
        </p:txBody>
      </p:sp>
      <p:grpSp>
        <p:nvGrpSpPr>
          <p:cNvPr id="152" name="Google Shape;152;p26"/>
          <p:cNvGrpSpPr/>
          <p:nvPr/>
        </p:nvGrpSpPr>
        <p:grpSpPr>
          <a:xfrm>
            <a:off x="972644" y="714373"/>
            <a:ext cx="3691689" cy="2204022"/>
            <a:chOff x="1458" y="152397"/>
            <a:chExt cx="4922252" cy="2938696"/>
          </a:xfrm>
        </p:grpSpPr>
        <p:sp>
          <p:nvSpPr>
            <p:cNvPr id="153" name="Google Shape;153;p26"/>
            <p:cNvSpPr/>
            <p:nvPr/>
          </p:nvSpPr>
          <p:spPr>
            <a:xfrm>
              <a:off x="10327" y="1107040"/>
              <a:ext cx="4395900" cy="1407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1B438A"/>
            </a:solidFill>
            <a:ln w="12700" cap="flat" cmpd="sng">
              <a:solidFill>
                <a:srgbClr val="1B438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rot="10800000" flipH="1">
              <a:off x="3454010" y="1161806"/>
              <a:ext cx="1469700" cy="153900"/>
            </a:xfrm>
            <a:prstGeom prst="trapezoid">
              <a:avLst>
                <a:gd name="adj" fmla="val 25000"/>
              </a:avLst>
            </a:prstGeom>
            <a:solidFill>
              <a:srgbClr val="F2F2F2">
                <a:alpha val="94510"/>
              </a:srgb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308099" y="152397"/>
              <a:ext cx="4395900" cy="9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6" name="Google Shape;156;p26"/>
            <p:cNvSpPr txBox="1"/>
            <p:nvPr/>
          </p:nvSpPr>
          <p:spPr>
            <a:xfrm>
              <a:off x="308099" y="152397"/>
              <a:ext cx="4395900" cy="9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38100" rIns="57150" bIns="38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lang="ko" sz="3000" b="0" i="0" u="none" strike="noStrike" cap="none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목차</a:t>
              </a:r>
              <a:endParaRPr sz="11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1458" y="2495790"/>
              <a:ext cx="322800" cy="3228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1B438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309164" y="1576641"/>
              <a:ext cx="4088100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9" name="Google Shape;159;p26"/>
            <p:cNvSpPr txBox="1"/>
            <p:nvPr/>
          </p:nvSpPr>
          <p:spPr>
            <a:xfrm>
              <a:off x="309165" y="2338393"/>
              <a:ext cx="4295903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25" tIns="112025" rIns="112025" bIns="1120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1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309164" y="2329376"/>
              <a:ext cx="4088100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</p:grpSp>
      <p:sp>
        <p:nvSpPr>
          <p:cNvPr id="164" name="Google Shape;164;p26"/>
          <p:cNvSpPr txBox="1"/>
          <p:nvPr/>
        </p:nvSpPr>
        <p:spPr>
          <a:xfrm>
            <a:off x="1202625" y="2347070"/>
            <a:ext cx="30660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파라미터 및 구현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972644" y="1881342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60;p26">
            <a:extLst>
              <a:ext uri="{FF2B5EF4-FFF2-40B4-BE49-F238E27FC236}">
                <a16:creationId xmlns:a16="http://schemas.microsoft.com/office/drawing/2014/main" id="{778E1468-E9AE-26BE-52DF-61E0C8682B9E}"/>
              </a:ext>
            </a:extLst>
          </p:cNvPr>
          <p:cNvSpPr/>
          <p:nvPr/>
        </p:nvSpPr>
        <p:spPr>
          <a:xfrm>
            <a:off x="971845" y="3053668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Google Shape;162;p26">
            <a:extLst>
              <a:ext uri="{FF2B5EF4-FFF2-40B4-BE49-F238E27FC236}">
                <a16:creationId xmlns:a16="http://schemas.microsoft.com/office/drawing/2014/main" id="{C18EC99A-D0FB-AF2A-184F-A2D425E045FC}"/>
              </a:ext>
            </a:extLst>
          </p:cNvPr>
          <p:cNvSpPr txBox="1"/>
          <p:nvPr/>
        </p:nvSpPr>
        <p:spPr>
          <a:xfrm>
            <a:off x="1202550" y="2911595"/>
            <a:ext cx="3066075" cy="56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통합</a:t>
            </a:r>
            <a:endParaRPr sz="11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" name="Google Shape;162;p26">
            <a:extLst>
              <a:ext uri="{FF2B5EF4-FFF2-40B4-BE49-F238E27FC236}">
                <a16:creationId xmlns:a16="http://schemas.microsoft.com/office/drawing/2014/main" id="{5685C3E5-54A4-A9F2-B9F0-6C969A962C33}"/>
              </a:ext>
            </a:extLst>
          </p:cNvPr>
          <p:cNvSpPr txBox="1"/>
          <p:nvPr/>
        </p:nvSpPr>
        <p:spPr>
          <a:xfrm>
            <a:off x="1215543" y="1730827"/>
            <a:ext cx="3066075" cy="56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프로젝트 </a:t>
            </a:r>
            <a:r>
              <a:rPr lang="ko-KR" alt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전체 </a:t>
            </a: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계획</a:t>
            </a:r>
            <a:endParaRPr sz="11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  <p:sp>
        <p:nvSpPr>
          <p:cNvPr id="172" name="Google Shape;172;p27"/>
          <p:cNvSpPr>
            <a:spLocks noGrp="1"/>
          </p:cNvSpPr>
          <p:nvPr>
            <p:ph type="dgm" idx="2"/>
          </p:nvPr>
        </p:nvSpPr>
        <p:spPr>
          <a:xfrm>
            <a:off x="1181393" y="2088232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" sz="2600" b="1" dirty="0">
                <a:latin typeface="Arial" panose="020B0604020202020204" pitchFamily="34" charset="0"/>
                <a:cs typeface="Arial" panose="020B0604020202020204" pitchFamily="34" charset="0"/>
              </a:rPr>
              <a:t>프로젝트 </a:t>
            </a:r>
            <a:r>
              <a:rPr lang="ko-KR" alt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계획</a:t>
            </a:r>
            <a:endParaRPr sz="26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173" name="Google Shape;173;p27"/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27"/>
          <p:cNvCxnSpPr>
            <a:cxnSpLocks/>
          </p:cNvCxnSpPr>
          <p:nvPr/>
        </p:nvCxnSpPr>
        <p:spPr>
          <a:xfrm>
            <a:off x="1233150" y="2560641"/>
            <a:ext cx="2139778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C8C7BAC-6E2A-7B91-DA87-439AED033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FAEF6B12-78A5-DABD-A238-88524AA1DB4B}"/>
              </a:ext>
            </a:extLst>
          </p:cNvPr>
          <p:cNvSpPr txBox="1"/>
          <p:nvPr/>
        </p:nvSpPr>
        <p:spPr>
          <a:xfrm>
            <a:off x="442913" y="805365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세부일정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3E4D2F-C232-E87B-E661-4A5952D452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656EA81-3E30-A1B6-06D8-710B7F09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프로젝트 계획</a:t>
            </a:r>
          </a:p>
        </p:txBody>
      </p:sp>
      <p:pic>
        <p:nvPicPr>
          <p:cNvPr id="8" name="그림 7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49999C-1FC9-B5F1-DD1E-F6C00E083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13" y="1109737"/>
            <a:ext cx="7772400" cy="363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4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ko"/>
              <a:t>5</a:t>
            </a:fld>
            <a:endParaRPr/>
          </a:p>
        </p:txBody>
      </p:sp>
      <p:sp>
        <p:nvSpPr>
          <p:cNvPr id="191" name="Google Shape;191;p29"/>
          <p:cNvSpPr>
            <a:spLocks noGrp="1"/>
          </p:cNvSpPr>
          <p:nvPr>
            <p:ph type="dgm" idx="2"/>
          </p:nvPr>
        </p:nvSpPr>
        <p:spPr>
          <a:xfrm>
            <a:off x="1181393" y="2079606"/>
            <a:ext cx="309731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dirty="0"/>
              <a:t>파라미터 및 구현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9"/>
          <p:cNvCxnSpPr>
            <a:cxnSpLocks/>
          </p:cNvCxnSpPr>
          <p:nvPr/>
        </p:nvCxnSpPr>
        <p:spPr>
          <a:xfrm>
            <a:off x="1233150" y="2571750"/>
            <a:ext cx="282989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7623335-4D03-EEC9-74F4-EC08F742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F6BF8FAA-1310-FC4B-59A3-4450834C7B18}"/>
              </a:ext>
            </a:extLst>
          </p:cNvPr>
          <p:cNvSpPr txBox="1"/>
          <p:nvPr/>
        </p:nvSpPr>
        <p:spPr>
          <a:xfrm>
            <a:off x="442913" y="691367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2D9C4F-7A83-5DD1-E5C9-E26DD58480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6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8A3FCF3-94A1-21B5-D26D-4E32C57E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초기 파라미터</a:t>
            </a:r>
            <a:r>
              <a:rPr lang="en-US" altLang="ko-KR" b="1" dirty="0"/>
              <a:t> </a:t>
            </a:r>
            <a:r>
              <a:rPr lang="ko-KR" altLang="en-US" b="1" dirty="0"/>
              <a:t>및 가정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F209290B-11A4-80D8-BB6B-1A4891521A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4083548"/>
                  </p:ext>
                </p:extLst>
              </p:nvPr>
            </p:nvGraphicFramePr>
            <p:xfrm>
              <a:off x="452927" y="1106835"/>
              <a:ext cx="6085986" cy="2461062"/>
            </p:xfrm>
            <a:graphic>
              <a:graphicData uri="http://schemas.openxmlformats.org/drawingml/2006/table">
                <a:tbl>
                  <a:tblPr firstRow="1" bandRow="1">
                    <a:tableStyleId>{658C3E42-3E5C-4F1B-8652-82554BEA93F8}</a:tableStyleId>
                  </a:tblPr>
                  <a:tblGrid>
                    <a:gridCol w="3037986">
                      <a:extLst>
                        <a:ext uri="{9D8B030D-6E8A-4147-A177-3AD203B41FA5}">
                          <a16:colId xmlns:a16="http://schemas.microsoft.com/office/drawing/2014/main" val="1397387269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1830545135"/>
                        </a:ext>
                      </a:extLst>
                    </a:gridCol>
                  </a:tblGrid>
                  <a:tr h="31235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[0.01, 0.02, 10].T deg/s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8751400"/>
                      </a:ext>
                    </a:extLst>
                  </a:tr>
                  <a:tr h="31235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T(Torque)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[0, 0, 0].T </a:t>
                          </a:r>
                          <a:endParaRPr lang="ko-KR" altLang="en-US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5638365"/>
                      </a:ext>
                    </a:extLst>
                  </a:tr>
                  <a:tr h="31235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" altLang="ko-KR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[1, 0, 0, 0];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1095142"/>
                      </a:ext>
                    </a:extLst>
                  </a:tr>
                  <a:tr h="15617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J(</a:t>
                          </a:r>
                          <a:r>
                            <a:rPr lang="en-US" dirty="0">
                              <a:effectLst/>
                            </a:rPr>
                            <a:t>MOI)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-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Disk</a:t>
                          </a:r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 err="1">
                              <a:effectLst/>
                            </a:rPr>
                            <a:t>diag</a:t>
                          </a:r>
                          <a:r>
                            <a:rPr lang="en" dirty="0">
                              <a:effectLst/>
                            </a:rPr>
                            <a:t>([56.0, 56.0, 64.0])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6557932"/>
                      </a:ext>
                    </a:extLst>
                  </a:tr>
                  <a:tr h="15617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J(MOI) - Box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 err="1">
                              <a:effectLst/>
                            </a:rPr>
                            <a:t>diag</a:t>
                          </a:r>
                          <a:r>
                            <a:rPr lang="en" dirty="0">
                              <a:effectLst/>
                            </a:rPr>
                            <a:t>([27.3, 48.2, 54.2])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6213410"/>
                      </a:ext>
                    </a:extLst>
                  </a:tr>
                  <a:tr h="15617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altLang="en-US" dirty="0" err="1">
                              <a:effectLst/>
                            </a:rPr>
                            <a:t>오일러</a:t>
                          </a:r>
                          <a:r>
                            <a:rPr lang="ko-KR" altLang="en-US" dirty="0">
                              <a:effectLst/>
                            </a:rPr>
                            <a:t> 회전 순서</a:t>
                          </a:r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3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-&gt;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2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-&gt;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1</a:t>
                          </a:r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08133978"/>
                      </a:ext>
                    </a:extLst>
                  </a:tr>
                  <a:tr h="1524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Time step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0.01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221634"/>
                      </a:ext>
                    </a:extLst>
                  </a:tr>
                  <a:tr h="1524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Time span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0~1000</a:t>
                          </a:r>
                          <a:r>
                            <a:rPr lang="en-US" dirty="0">
                              <a:effectLst/>
                            </a:rPr>
                            <a:t>sec</a:t>
                          </a:r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32960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F209290B-11A4-80D8-BB6B-1A4891521A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4083548"/>
                  </p:ext>
                </p:extLst>
              </p:nvPr>
            </p:nvGraphicFramePr>
            <p:xfrm>
              <a:off x="452927" y="1106835"/>
              <a:ext cx="6085986" cy="2461062"/>
            </p:xfrm>
            <a:graphic>
              <a:graphicData uri="http://schemas.openxmlformats.org/drawingml/2006/table">
                <a:tbl>
                  <a:tblPr firstRow="1" bandRow="1">
                    <a:tableStyleId>{658C3E42-3E5C-4F1B-8652-82554BEA93F8}</a:tableStyleId>
                  </a:tblPr>
                  <a:tblGrid>
                    <a:gridCol w="3037986">
                      <a:extLst>
                        <a:ext uri="{9D8B030D-6E8A-4147-A177-3AD203B41FA5}">
                          <a16:colId xmlns:a16="http://schemas.microsoft.com/office/drawing/2014/main" val="1397387269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1830545135"/>
                        </a:ext>
                      </a:extLst>
                    </a:gridCol>
                  </a:tblGrid>
                  <a:tr h="3123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4000" r="-100417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[0.01, 0.02, 10].T deg/s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8751400"/>
                      </a:ext>
                    </a:extLst>
                  </a:tr>
                  <a:tr h="31235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T(Torque)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[0, 0, 0].T </a:t>
                          </a:r>
                          <a:endParaRPr lang="ko-KR" altLang="en-US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5638365"/>
                      </a:ext>
                    </a:extLst>
                  </a:tr>
                  <a:tr h="3123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00000" r="-100417" b="-5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[1, 0, 0, 0];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109514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J(</a:t>
                          </a:r>
                          <a:r>
                            <a:rPr lang="en-US" dirty="0">
                              <a:effectLst/>
                            </a:rPr>
                            <a:t>MOI)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-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Disk</a:t>
                          </a:r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 err="1">
                              <a:effectLst/>
                            </a:rPr>
                            <a:t>diag</a:t>
                          </a:r>
                          <a:r>
                            <a:rPr lang="en" dirty="0">
                              <a:effectLst/>
                            </a:rPr>
                            <a:t>([56.0, 56.0, 64.0])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655793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J(MOI) - Box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 err="1">
                              <a:effectLst/>
                            </a:rPr>
                            <a:t>diag</a:t>
                          </a:r>
                          <a:r>
                            <a:rPr lang="en" dirty="0">
                              <a:effectLst/>
                            </a:rPr>
                            <a:t>([27.3, 48.2, 54.2])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621341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ko-KR" altLang="en-US" dirty="0" err="1">
                              <a:effectLst/>
                            </a:rPr>
                            <a:t>오일러</a:t>
                          </a:r>
                          <a:r>
                            <a:rPr lang="ko-KR" altLang="en-US" dirty="0">
                              <a:effectLst/>
                            </a:rPr>
                            <a:t> 회전 순서</a:t>
                          </a:r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ko-KR" dirty="0">
                              <a:effectLst/>
                            </a:rPr>
                            <a:t>3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-&gt;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2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-&gt;</a:t>
                          </a:r>
                          <a:r>
                            <a:rPr lang="ko-KR" altLang="en-US" dirty="0">
                              <a:effectLst/>
                            </a:rPr>
                            <a:t> </a:t>
                          </a:r>
                          <a:r>
                            <a:rPr lang="en-US" altLang="ko-KR" dirty="0">
                              <a:effectLst/>
                            </a:rPr>
                            <a:t>1</a:t>
                          </a:r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0813397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Time step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0.01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2216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Time span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" dirty="0">
                              <a:effectLst/>
                            </a:rPr>
                            <a:t>0~1000</a:t>
                          </a:r>
                          <a:r>
                            <a:rPr lang="en-US" dirty="0">
                              <a:effectLst/>
                            </a:rPr>
                            <a:t>sec</a:t>
                          </a:r>
                          <a:endParaRPr lang="en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32960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25;p32">
            <a:extLst>
              <a:ext uri="{FF2B5EF4-FFF2-40B4-BE49-F238E27FC236}">
                <a16:creationId xmlns:a16="http://schemas.microsoft.com/office/drawing/2014/main" id="{CA6D9B41-CFDA-BA41-A2AF-39D717625F0D}"/>
              </a:ext>
            </a:extLst>
          </p:cNvPr>
          <p:cNvSpPr txBox="1"/>
          <p:nvPr/>
        </p:nvSpPr>
        <p:spPr>
          <a:xfrm>
            <a:off x="442913" y="3616611"/>
            <a:ext cx="8003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가정</a:t>
            </a:r>
            <a:endParaRPr lang="en-US" altLang="ko-KR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altLang="ko-K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강체 동역학</a:t>
            </a:r>
            <a:endParaRPr lang="en-US" altLang="ko-KR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altLang="ko-K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동체좌표계</a:t>
            </a: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주축좌표계</a:t>
            </a:r>
            <a:endParaRPr lang="en-US" altLang="ko-KR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altLang="ko-K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Torque-Free</a:t>
            </a: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4. Spin</a:t>
            </a:r>
            <a:r>
              <a:rPr lang="ko-KR" alt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안정화 방식</a:t>
            </a:r>
            <a:endParaRPr lang="en-US" altLang="ko-KR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3"/>
            <a:endParaRPr lang="en-US" altLang="ko-KR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1798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CCAD56B-CC7A-BABA-E68B-029057CB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356657-8644-D061-715D-649EE22CCB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A570FD8-012F-CD5C-4728-4DAD2D83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스핀 안정화 상태에서의 형태에 따른 결과</a:t>
            </a:r>
          </a:p>
        </p:txBody>
      </p:sp>
      <p:pic>
        <p:nvPicPr>
          <p:cNvPr id="5" name="그림 4" descr="텍스트, 스크린샷, 폰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266672-175C-299D-1298-01B539F31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330498"/>
            <a:ext cx="3263900" cy="1968500"/>
          </a:xfrm>
          <a:prstGeom prst="rect">
            <a:avLst/>
          </a:prstGeom>
        </p:spPr>
      </p:pic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D01CD366-8C6B-06AC-DEF8-68E304D64F22}"/>
              </a:ext>
            </a:extLst>
          </p:cNvPr>
          <p:cNvSpPr txBox="1"/>
          <p:nvPr/>
        </p:nvSpPr>
        <p:spPr>
          <a:xfrm>
            <a:off x="297670" y="915030"/>
            <a:ext cx="1872962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파라미터 정의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010A2D-1D21-20F6-A9B7-DDFE70283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106" y="1356136"/>
            <a:ext cx="4038600" cy="2383968"/>
          </a:xfrm>
          <a:prstGeom prst="rect">
            <a:avLst/>
          </a:prstGeom>
        </p:spPr>
      </p:pic>
      <p:sp>
        <p:nvSpPr>
          <p:cNvPr id="9" name="Google Shape;225;p32">
            <a:extLst>
              <a:ext uri="{FF2B5EF4-FFF2-40B4-BE49-F238E27FC236}">
                <a16:creationId xmlns:a16="http://schemas.microsoft.com/office/drawing/2014/main" id="{0E3A88CC-88CC-9289-2096-8ACEE9736872}"/>
              </a:ext>
            </a:extLst>
          </p:cNvPr>
          <p:cNvSpPr txBox="1"/>
          <p:nvPr/>
        </p:nvSpPr>
        <p:spPr>
          <a:xfrm>
            <a:off x="4406105" y="915030"/>
            <a:ext cx="3866224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자세 표현을 위한 수치적분기 구현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046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DBDAF7A4-4E53-54E9-DE47-C136A3F2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DB4969E-E2E7-8EDB-3580-7AD021BFD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8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C8350FF-4E80-D4DC-9214-15F4906E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스핀 안정화 상태에서의 형태에 따른 결과</a:t>
            </a:r>
          </a:p>
        </p:txBody>
      </p:sp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8149F4B4-A1CF-CB87-9B52-48CDFD0DF4C4}"/>
              </a:ext>
            </a:extLst>
          </p:cNvPr>
          <p:cNvSpPr txBox="1"/>
          <p:nvPr/>
        </p:nvSpPr>
        <p:spPr>
          <a:xfrm>
            <a:off x="297669" y="915030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강체 동역학 구현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8CA2BB-CA33-29F1-A4C7-B5A141FC6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13" y="1330498"/>
            <a:ext cx="3291530" cy="2631902"/>
          </a:xfrm>
          <a:prstGeom prst="rect">
            <a:avLst/>
          </a:prstGeom>
        </p:spPr>
      </p:pic>
      <p:pic>
        <p:nvPicPr>
          <p:cNvPr id="11" name="그림 10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893B97-F6C8-32F4-AD8D-36172BDFC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722" y="1330498"/>
            <a:ext cx="3567182" cy="2631902"/>
          </a:xfrm>
          <a:prstGeom prst="rect">
            <a:avLst/>
          </a:prstGeom>
        </p:spPr>
      </p:pic>
      <p:sp>
        <p:nvSpPr>
          <p:cNvPr id="12" name="Google Shape;225;p32">
            <a:extLst>
              <a:ext uri="{FF2B5EF4-FFF2-40B4-BE49-F238E27FC236}">
                <a16:creationId xmlns:a16="http://schemas.microsoft.com/office/drawing/2014/main" id="{7AB2AF66-651B-36A2-0CDD-A73F9FAD13EF}"/>
              </a:ext>
            </a:extLst>
          </p:cNvPr>
          <p:cNvSpPr txBox="1"/>
          <p:nvPr/>
        </p:nvSpPr>
        <p:spPr>
          <a:xfrm>
            <a:off x="4572000" y="906189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쿼터니언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결과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6952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1711345-37E0-CFED-59DE-660F3F3E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74D755-EAD6-5C3D-46C9-0C20FAEFE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9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82AC719-A831-5BB8-4E8E-0D94BD258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스핀 안정화 상태에서의 형태에 따른 결과</a:t>
            </a:r>
          </a:p>
        </p:txBody>
      </p:sp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E7485B30-6B54-337D-B62A-DF3321C19A12}"/>
              </a:ext>
            </a:extLst>
          </p:cNvPr>
          <p:cNvSpPr txBox="1"/>
          <p:nvPr/>
        </p:nvSpPr>
        <p:spPr>
          <a:xfrm>
            <a:off x="297669" y="915030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각속도 결과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25;p32">
            <a:extLst>
              <a:ext uri="{FF2B5EF4-FFF2-40B4-BE49-F238E27FC236}">
                <a16:creationId xmlns:a16="http://schemas.microsoft.com/office/drawing/2014/main" id="{FD8C7801-5367-94D2-4FD4-985A641716A0}"/>
              </a:ext>
            </a:extLst>
          </p:cNvPr>
          <p:cNvSpPr txBox="1"/>
          <p:nvPr/>
        </p:nvSpPr>
        <p:spPr>
          <a:xfrm>
            <a:off x="4572000" y="906189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각운동량 결과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8D90C1-237B-33C5-1387-545437F55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70" y="1321657"/>
            <a:ext cx="3925988" cy="3178629"/>
          </a:xfrm>
          <a:prstGeom prst="rect">
            <a:avLst/>
          </a:prstGeom>
        </p:spPr>
      </p:pic>
      <p:pic>
        <p:nvPicPr>
          <p:cNvPr id="9" name="그림 8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0FF867-D9A4-A54F-0B50-285DE75BF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30497"/>
            <a:ext cx="4274330" cy="317862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334641F-DC81-6A35-B12F-14F6155A0690}"/>
              </a:ext>
            </a:extLst>
          </p:cNvPr>
          <p:cNvSpPr/>
          <p:nvPr/>
        </p:nvSpPr>
        <p:spPr>
          <a:xfrm>
            <a:off x="653143" y="3755571"/>
            <a:ext cx="3407228" cy="34834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DF1FE9-6A74-CDC5-2D00-BABD53295ADA}"/>
              </a:ext>
            </a:extLst>
          </p:cNvPr>
          <p:cNvSpPr txBox="1"/>
          <p:nvPr/>
        </p:nvSpPr>
        <p:spPr>
          <a:xfrm>
            <a:off x="391885" y="4256356"/>
            <a:ext cx="7336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Disk</a:t>
            </a:r>
            <a:r>
              <a:rPr kumimoji="1" lang="ko-KR" altLang="en-US" dirty="0"/>
              <a:t>의 경우 </a:t>
            </a:r>
            <a:r>
              <a:rPr kumimoji="1" lang="en-US" altLang="ko-KR" dirty="0"/>
              <a:t>J1=J2</a:t>
            </a:r>
            <a:r>
              <a:rPr kumimoji="1" lang="ko-KR" altLang="en-US" dirty="0"/>
              <a:t>가 되어 </a:t>
            </a:r>
            <a:r>
              <a:rPr kumimoji="1" lang="en-US" altLang="ko-KR" dirty="0"/>
              <a:t>w3</a:t>
            </a:r>
            <a:r>
              <a:rPr kumimoji="1" lang="ko-KR" altLang="en-US" dirty="0"/>
              <a:t>가 항상 일정하여 </a:t>
            </a:r>
            <a:r>
              <a:rPr kumimoji="1" lang="en-US" altLang="ko-KR" dirty="0"/>
              <a:t>3</a:t>
            </a:r>
            <a:r>
              <a:rPr kumimoji="1" lang="ko-KR" altLang="en-US" dirty="0"/>
              <a:t>자유도를 구성할 수 없어 지향 미션에 적합하지 않다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263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06E5609-60BB-4CB7-3FCC-7922BE11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3E0DD9-C278-3381-6FB8-AD5F8A1998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10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12301B7-4470-996C-1282-FA0C244A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ECI</a:t>
            </a:r>
            <a:r>
              <a:rPr lang="ko-KR" altLang="en-US" b="1" dirty="0"/>
              <a:t>로 변환한 결과</a:t>
            </a:r>
          </a:p>
        </p:txBody>
      </p:sp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EDD13F72-696D-C110-69EF-E52F068752CF}"/>
              </a:ext>
            </a:extLst>
          </p:cNvPr>
          <p:cNvSpPr txBox="1"/>
          <p:nvPr/>
        </p:nvSpPr>
        <p:spPr>
          <a:xfrm>
            <a:off x="297669" y="915030"/>
            <a:ext cx="6174644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각운동량 변환 구현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AEB66C-0C61-B23E-0AD5-B2C346086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717" y="783771"/>
            <a:ext cx="3808315" cy="22380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71B1E80-0CE0-72CF-9893-9261EFE63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717" y="2847650"/>
            <a:ext cx="3800474" cy="2061807"/>
          </a:xfrm>
          <a:prstGeom prst="rect">
            <a:avLst/>
          </a:prstGeom>
        </p:spPr>
      </p:pic>
      <p:pic>
        <p:nvPicPr>
          <p:cNvPr id="14" name="그림 13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4ECAA5-4B54-6CB4-5D40-8F31C69EF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669" y="1263650"/>
            <a:ext cx="4411435" cy="1308100"/>
          </a:xfrm>
          <a:prstGeom prst="rect">
            <a:avLst/>
          </a:prstGeom>
        </p:spPr>
      </p:pic>
      <p:pic>
        <p:nvPicPr>
          <p:cNvPr id="16" name="그림 1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67479C-16AD-6048-7AFA-918153E1A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69" y="2847650"/>
            <a:ext cx="3925988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19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AA893A3-F559-B5BE-F009-2EEF62C7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78394E6-BC31-FA6F-68DA-6304774721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11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90A862B-38BB-D6B1-F346-0D18DF24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쿼터니언</a:t>
            </a:r>
            <a:r>
              <a:rPr lang="ko-KR" altLang="en-US" b="1" dirty="0"/>
              <a:t> </a:t>
            </a:r>
            <a:r>
              <a:rPr lang="en-US" altLang="ko-KR" b="1" dirty="0"/>
              <a:t>-&gt;</a:t>
            </a:r>
            <a:r>
              <a:rPr lang="ko-KR" altLang="en-US" b="1" dirty="0"/>
              <a:t> </a:t>
            </a:r>
            <a:r>
              <a:rPr lang="ko-KR" altLang="en-US" b="1" dirty="0" err="1"/>
              <a:t>오일러각</a:t>
            </a:r>
            <a:r>
              <a:rPr lang="en-US" altLang="ko-KR" b="1" dirty="0"/>
              <a:t>(box</a:t>
            </a:r>
            <a:r>
              <a:rPr lang="ko-KR" altLang="en-US" b="1" dirty="0"/>
              <a:t>형태만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2" name="Google Shape;225;p32">
            <a:extLst>
              <a:ext uri="{FF2B5EF4-FFF2-40B4-BE49-F238E27FC236}">
                <a16:creationId xmlns:a16="http://schemas.microsoft.com/office/drawing/2014/main" id="{B53221D9-2EF6-C32E-C890-3AD1BF4D90BC}"/>
              </a:ext>
            </a:extLst>
          </p:cNvPr>
          <p:cNvSpPr txBox="1"/>
          <p:nvPr/>
        </p:nvSpPr>
        <p:spPr>
          <a:xfrm>
            <a:off x="348343" y="829989"/>
            <a:ext cx="461854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구현 및 결과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(DCM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관계를 통해서 유도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  <p:pic>
        <p:nvPicPr>
          <p:cNvPr id="11" name="그림 10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333153-7EF8-6A5F-70AB-5E693B094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726" y="1245457"/>
            <a:ext cx="4618549" cy="3097943"/>
          </a:xfrm>
          <a:prstGeom prst="rect">
            <a:avLst/>
          </a:prstGeom>
        </p:spPr>
      </p:pic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7DDD0D-72BD-5F35-B4C2-9C5ECB8FB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43" y="1245457"/>
            <a:ext cx="3937000" cy="184608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DFD584D-EB70-3C40-F866-E57FE3C82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43" y="3164709"/>
            <a:ext cx="39370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17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A8B7E0C-A2B0-0493-23D3-95500B57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>
            <a:extLst>
              <a:ext uri="{FF2B5EF4-FFF2-40B4-BE49-F238E27FC236}">
                <a16:creationId xmlns:a16="http://schemas.microsoft.com/office/drawing/2014/main" id="{BF1C07B4-B631-AB14-43C1-DBCF64F088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12</a:t>
            </a:fld>
            <a:endParaRPr/>
          </a:p>
        </p:txBody>
      </p:sp>
      <p:sp>
        <p:nvSpPr>
          <p:cNvPr id="332" name="Google Shape;332;p44">
            <a:extLst>
              <a:ext uri="{FF2B5EF4-FFF2-40B4-BE49-F238E27FC236}">
                <a16:creationId xmlns:a16="http://schemas.microsoft.com/office/drawing/2014/main" id="{CDEBE959-217E-B751-D646-12E43C067887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233150" y="2036475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dirty="0"/>
              <a:t>통합</a:t>
            </a:r>
            <a:r>
              <a:rPr lang="en-US" altLang="ko-KR" sz="2600" b="1" dirty="0"/>
              <a:t>(3</a:t>
            </a:r>
            <a:r>
              <a:rPr lang="ko-KR" altLang="en-US" sz="2600" b="1" dirty="0"/>
              <a:t>축 안정성</a:t>
            </a:r>
            <a:r>
              <a:rPr lang="en-US" altLang="ko-KR" sz="2600" b="1" dirty="0"/>
              <a:t>)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>
            <a:extLst>
              <a:ext uri="{FF2B5EF4-FFF2-40B4-BE49-F238E27FC236}">
                <a16:creationId xmlns:a16="http://schemas.microsoft.com/office/drawing/2014/main" id="{2F08A92E-AEB8-FC7F-0D71-E8F7498D67B9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44">
            <a:extLst>
              <a:ext uri="{FF2B5EF4-FFF2-40B4-BE49-F238E27FC236}">
                <a16:creationId xmlns:a16="http://schemas.microsoft.com/office/drawing/2014/main" id="{E3CEB03C-53CE-C3CD-5034-A96B593F21F2}"/>
              </a:ext>
            </a:extLst>
          </p:cNvPr>
          <p:cNvCxnSpPr/>
          <p:nvPr/>
        </p:nvCxnSpPr>
        <p:spPr>
          <a:xfrm>
            <a:off x="1233150" y="2571750"/>
            <a:ext cx="21957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019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D97033E7-9FFF-7485-FEAE-159404BE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71DF79A5-5377-38D2-54A0-6D356C3750F9}"/>
              </a:ext>
            </a:extLst>
          </p:cNvPr>
          <p:cNvSpPr txBox="1"/>
          <p:nvPr/>
        </p:nvSpPr>
        <p:spPr>
          <a:xfrm>
            <a:off x="297671" y="863756"/>
            <a:ext cx="884632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축 안정성 제어 파라미터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AB336E-6342-FDB0-3D86-B5395096F6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13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0338BBC-F9A9-94A3-A413-36F5A1E3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이상적 제어 토크를 가정한 </a:t>
            </a:r>
            <a:r>
              <a:rPr lang="en-US" altLang="ko-KR" b="1" dirty="0"/>
              <a:t>3</a:t>
            </a:r>
            <a:r>
              <a:rPr lang="ko-KR" altLang="en-US" b="1" dirty="0"/>
              <a:t>축 자세 안정화</a:t>
            </a:r>
          </a:p>
        </p:txBody>
      </p:sp>
      <p:pic>
        <p:nvPicPr>
          <p:cNvPr id="11" name="그림 10" descr="그래프, 라인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5660CE-FABE-052A-4730-E53C76EC4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068" y="1279224"/>
            <a:ext cx="4832490" cy="3118475"/>
          </a:xfrm>
          <a:prstGeom prst="rect">
            <a:avLst/>
          </a:prstGeom>
        </p:spPr>
      </p:pic>
      <p:pic>
        <p:nvPicPr>
          <p:cNvPr id="15" name="그림 14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D1DC8E-C2A0-50AA-DE6F-5380524FE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864276"/>
            <a:ext cx="2358639" cy="1228083"/>
          </a:xfrm>
          <a:prstGeom prst="rect">
            <a:avLst/>
          </a:prstGeom>
        </p:spPr>
      </p:pic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FB2D0E-1FB4-B46B-8636-482B52599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413" y="1279223"/>
            <a:ext cx="3124200" cy="293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6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2534D89B-EC57-68DE-6E88-47169530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>
            <a:extLst>
              <a:ext uri="{FF2B5EF4-FFF2-40B4-BE49-F238E27FC236}">
                <a16:creationId xmlns:a16="http://schemas.microsoft.com/office/drawing/2014/main" id="{E004843D-4635-0D33-0D7B-40AC2241FF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14</a:t>
            </a:fld>
            <a:endParaRPr/>
          </a:p>
        </p:txBody>
      </p:sp>
      <p:sp>
        <p:nvSpPr>
          <p:cNvPr id="332" name="Google Shape;332;p44">
            <a:extLst>
              <a:ext uri="{FF2B5EF4-FFF2-40B4-BE49-F238E27FC236}">
                <a16:creationId xmlns:a16="http://schemas.microsoft.com/office/drawing/2014/main" id="{74813364-AC92-A8FE-DCC7-A2C6BEA08BEC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233150" y="2036475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600" b="1" dirty="0"/>
              <a:t>Q&amp;A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>
            <a:extLst>
              <a:ext uri="{FF2B5EF4-FFF2-40B4-BE49-F238E27FC236}">
                <a16:creationId xmlns:a16="http://schemas.microsoft.com/office/drawing/2014/main" id="{00014482-0A99-4CC8-ECF5-F6E8FFD07152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44">
            <a:extLst>
              <a:ext uri="{FF2B5EF4-FFF2-40B4-BE49-F238E27FC236}">
                <a16:creationId xmlns:a16="http://schemas.microsoft.com/office/drawing/2014/main" id="{0A83377A-BA02-5472-FD06-B2F9EF2B6A75}"/>
              </a:ext>
            </a:extLst>
          </p:cNvPr>
          <p:cNvCxnSpPr/>
          <p:nvPr/>
        </p:nvCxnSpPr>
        <p:spPr>
          <a:xfrm>
            <a:off x="1233150" y="2571750"/>
            <a:ext cx="21957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07887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3A8F86B0-369C-4D5B-6A96-284D50EE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4E04F6F3-CB9E-64BA-E79D-D358ECC1A366}"/>
              </a:ext>
            </a:extLst>
          </p:cNvPr>
          <p:cNvSpPr txBox="1"/>
          <p:nvPr/>
        </p:nvSpPr>
        <p:spPr>
          <a:xfrm>
            <a:off x="297670" y="915030"/>
            <a:ext cx="876060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>
              <a:buFont typeface="Wingdings" pitchFamily="2" charset="2"/>
              <a:buChar char="è"/>
            </a:pPr>
            <a:r>
              <a:rPr kumimoji="1" lang="ko-KR" altLang="en-US" dirty="0" err="1"/>
              <a:t>쿼터니언의</a:t>
            </a:r>
            <a:r>
              <a:rPr kumimoji="1" lang="ko-KR" altLang="en-US" dirty="0"/>
              <a:t> </a:t>
            </a:r>
            <a:r>
              <a:rPr kumimoji="1" lang="en-US" altLang="ko-KR" dirty="0"/>
              <a:t>scalar</a:t>
            </a:r>
            <a:r>
              <a:rPr kumimoji="1" lang="ko-KR" altLang="en-US" dirty="0"/>
              <a:t>부와 </a:t>
            </a:r>
            <a:r>
              <a:rPr kumimoji="1" lang="en-US" altLang="ko-KR" dirty="0"/>
              <a:t>vector</a:t>
            </a:r>
            <a:r>
              <a:rPr kumimoji="1" lang="ko-KR" altLang="en-US" dirty="0"/>
              <a:t>부가 의미하는 건 </a:t>
            </a:r>
            <a:r>
              <a:rPr kumimoji="1" lang="ko-KR" altLang="en-US" dirty="0" err="1"/>
              <a:t>알겠으나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시뮬레이션 후 해석을 어떻게 </a:t>
            </a:r>
            <a:r>
              <a:rPr kumimoji="1" lang="ko-KR" altLang="en-US" dirty="0" err="1"/>
              <a:t>해야할지</a:t>
            </a:r>
            <a:br>
              <a:rPr kumimoji="1" lang="en-US" altLang="ko-KR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kumimoji="1" lang="en-US" altLang="ko-KR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(</a:t>
            </a:r>
            <a:r>
              <a:rPr kumimoji="1" lang="ko-KR" alt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실제로 </a:t>
            </a:r>
            <a:r>
              <a:rPr kumimoji="1" lang="ko-KR" altLang="en-US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쿼터니언</a:t>
            </a:r>
            <a:r>
              <a:rPr kumimoji="1" lang="ko-KR" alt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변화를 보고 자세를 바로 판단 가능한지</a:t>
            </a:r>
            <a:r>
              <a:rPr kumimoji="1" lang="en-US" altLang="ko-KR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..?)</a:t>
            </a:r>
            <a:endParaRPr kumimoji="1"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212F84-C7C3-09F1-0D68-9E9CBAAAFE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15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BC5E40-6850-C27A-8BC9-286F360E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질문</a:t>
            </a:r>
          </a:p>
        </p:txBody>
      </p:sp>
      <p:sp>
        <p:nvSpPr>
          <p:cNvPr id="3" name="Google Shape;225;p32">
            <a:extLst>
              <a:ext uri="{FF2B5EF4-FFF2-40B4-BE49-F238E27FC236}">
                <a16:creationId xmlns:a16="http://schemas.microsoft.com/office/drawing/2014/main" id="{D777CDC1-3C4B-57CD-74DF-1D09ACDB84E1}"/>
              </a:ext>
            </a:extLst>
          </p:cNvPr>
          <p:cNvSpPr txBox="1"/>
          <p:nvPr/>
        </p:nvSpPr>
        <p:spPr>
          <a:xfrm>
            <a:off x="297669" y="1544245"/>
            <a:ext cx="8760605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>
              <a:buFont typeface="Wingdings" pitchFamily="2" charset="2"/>
              <a:buChar char="è"/>
            </a:pP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축 안정성에서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 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제어기를 구현할 때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일이상은 확인하고 싶어서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100T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 잡고 진행했는데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 작으면 시간이 너무 오래 걸린다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그래서 지금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으로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했는데 너무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큰거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같은데 적분기를 바꿔도 같은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상황일거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같은데 어떻게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해야할지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altLang="ko-KR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25;p32">
            <a:extLst>
              <a:ext uri="{FF2B5EF4-FFF2-40B4-BE49-F238E27FC236}">
                <a16:creationId xmlns:a16="http://schemas.microsoft.com/office/drawing/2014/main" id="{A4C4F5CB-11E2-56F4-3484-39F921F8C99C}"/>
              </a:ext>
            </a:extLst>
          </p:cNvPr>
          <p:cNvSpPr txBox="1"/>
          <p:nvPr/>
        </p:nvSpPr>
        <p:spPr>
          <a:xfrm>
            <a:off x="297668" y="2571750"/>
            <a:ext cx="8760605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>
              <a:buFont typeface="Wingdings" pitchFamily="2" charset="2"/>
              <a:buChar char="è"/>
            </a:pP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태양위치벡터와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좌표계에서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축이 안테나라고 가정하고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안테나가 태양을 지향하면 태양전지판이 태양을 향하는 상황으로 해서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썬포인팅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지상국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지향을 진행하려고 하는데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그럼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축 벡터는 태양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벡터랑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일치하게 하면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될거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같은데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나머지들은 어떻게 설정해야 지향된 상태에서 계속 회전하는 걸 막을 수 있을지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…?</a:t>
            </a:r>
          </a:p>
        </p:txBody>
      </p:sp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9C68413B-D378-7597-3393-C020F75917DA}"/>
              </a:ext>
            </a:extLst>
          </p:cNvPr>
          <p:cNvSpPr txBox="1"/>
          <p:nvPr/>
        </p:nvSpPr>
        <p:spPr>
          <a:xfrm>
            <a:off x="297668" y="3618160"/>
            <a:ext cx="876060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>
              <a:buFont typeface="Wingdings" pitchFamily="2" charset="2"/>
              <a:buChar char="è"/>
            </a:pP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자동제어 때는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나이퀴스트나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루트로커스로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게인들을 찾았는데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실험과목 때 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PID</a:t>
            </a:r>
            <a:r>
              <a:rPr lang="ko-KR" alt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제어할 때는 다 감으로 했는데 실무에서도 감으로 </a:t>
            </a:r>
            <a:r>
              <a:rPr lang="ko-KR" alt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해야하나</a:t>
            </a:r>
            <a:r>
              <a:rPr lang="en-US" altLang="ko-K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..?</a:t>
            </a:r>
          </a:p>
        </p:txBody>
      </p:sp>
    </p:spTree>
    <p:extLst>
      <p:ext uri="{BB962C8B-B14F-4D97-AF65-F5344CB8AC3E}">
        <p14:creationId xmlns:p14="http://schemas.microsoft.com/office/powerpoint/2010/main" val="342067074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213574"/>
      </a:dk2>
      <a:lt2>
        <a:srgbClr val="F9F9F9"/>
      </a:lt2>
      <a:accent1>
        <a:srgbClr val="1E438A"/>
      </a:accent1>
      <a:accent2>
        <a:srgbClr val="F6BB14"/>
      </a:accent2>
      <a:accent3>
        <a:srgbClr val="F4801E"/>
      </a:accent3>
      <a:accent4>
        <a:srgbClr val="F04C26"/>
      </a:accent4>
      <a:accent5>
        <a:srgbClr val="9FC131"/>
      </a:accent5>
      <a:accent6>
        <a:srgbClr val="506266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2389</TotalTime>
  <Words>384</Words>
  <Application>Microsoft Macintosh PowerPoint</Application>
  <PresentationFormat>화면 슬라이드 쇼(16:9)</PresentationFormat>
  <Paragraphs>75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Wingdings</vt:lpstr>
      <vt:lpstr>Simple Light</vt:lpstr>
      <vt:lpstr>Office 테마</vt:lpstr>
      <vt:lpstr>Chapter2-1 위성 자세 제어 2차 발표</vt:lpstr>
      <vt:lpstr>PowerPoint 프레젠테이션</vt:lpstr>
      <vt:lpstr>PowerPoint 프레젠테이션</vt:lpstr>
      <vt:lpstr>프로젝트 계획</vt:lpstr>
      <vt:lpstr>PowerPoint 프레젠테이션</vt:lpstr>
      <vt:lpstr>초기 파라미터 및 가정</vt:lpstr>
      <vt:lpstr>스핀 안정화 상태에서의 형태에 따른 결과</vt:lpstr>
      <vt:lpstr>스핀 안정화 상태에서의 형태에 따른 결과</vt:lpstr>
      <vt:lpstr>스핀 안정화 상태에서의 형태에 따른 결과</vt:lpstr>
      <vt:lpstr>ECI로 변환한 결과</vt:lpstr>
      <vt:lpstr>쿼터니언 -&gt; 오일러각(box형태만)</vt:lpstr>
      <vt:lpstr>PowerPoint 프레젠테이션</vt:lpstr>
      <vt:lpstr>이상적 제어 토크를 가정한 3축 자세 안정화</vt:lpstr>
      <vt:lpstr>PowerPoint 프레젠테이션</vt:lpstr>
      <vt:lpstr>질문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양재훈</dc:creator>
  <cp:lastModifiedBy>양동훈</cp:lastModifiedBy>
  <cp:revision>14</cp:revision>
  <dcterms:modified xsi:type="dcterms:W3CDTF">2026-01-11T07:21:35Z</dcterms:modified>
</cp:coreProperties>
</file>